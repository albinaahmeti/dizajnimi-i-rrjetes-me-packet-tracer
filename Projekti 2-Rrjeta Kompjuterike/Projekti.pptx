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Century Gothic" panose="020B0502020202020204" pitchFamily="34" charset="0"/>
      <p:regular r:id="rId25"/>
      <p:bold r:id="rId26"/>
      <p:italic r:id="rId27"/>
      <p:boldItalic r:id="rId28"/>
    </p:embeddedFont>
    <p:embeddedFont>
      <p:font typeface="Leelawadee UI" panose="020B0502040204020203" pitchFamily="34" charset="-34"/>
      <p:regular r:id="rId29"/>
      <p:bold r:id="rId30"/>
    </p:embeddedFont>
    <p:embeddedFont>
      <p:font typeface="Lexend Deca" panose="020B0604020202020204" charset="0"/>
      <p:regular r:id="rId31"/>
    </p:embeddedFont>
    <p:embeddedFont>
      <p:font typeface="Open Sans" panose="020B0606030504020204" pitchFamily="34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8714C06-38BB-4A42-BE0A-AC698649DFCB}">
  <a:tblStyle styleId="{28714C06-38BB-4A42-BE0A-AC698649DFC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C819C40-AFEB-4EFE-8A8C-DA0982023F7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ed75ccf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5ed75ccf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5f391192_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5f391192_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5f391192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5f391192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5f391192_0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5f391192_0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5ed75ccf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5ed75ccf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5f391192_0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5f391192_0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5ed75ccf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5ed75ccf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5ed75ccf_0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5ed75ccf_0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5ed75ccf_0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5ed75ccf_0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5ed75ccf_0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5ed75ccf_0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25"/>
            <a:ext cx="914395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685800" y="1991825"/>
            <a:ext cx="4539000" cy="115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>
            <a:spLocks noGrp="1"/>
          </p:cNvSpPr>
          <p:nvPr>
            <p:ph type="ctrTitle"/>
          </p:nvPr>
        </p:nvSpPr>
        <p:spPr>
          <a:xfrm>
            <a:off x="685800" y="1659550"/>
            <a:ext cx="42639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685800" y="2916254"/>
            <a:ext cx="4263900" cy="7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4"/>
          <p:cNvSpPr/>
          <p:nvPr/>
        </p:nvSpPr>
        <p:spPr>
          <a:xfrm>
            <a:off x="42525" y="42525"/>
            <a:ext cx="2000100" cy="2000100"/>
          </a:xfrm>
          <a:prstGeom prst="ellipse">
            <a:avLst/>
          </a:prstGeom>
          <a:gradFill>
            <a:gsLst>
              <a:gs pos="0">
                <a:srgbClr val="00FFFF">
                  <a:alpha val="54117"/>
                </a:srgbClr>
              </a:gs>
              <a:gs pos="73000">
                <a:srgbClr val="00FFFF">
                  <a:alpha val="0"/>
                </a:srgbClr>
              </a:gs>
              <a:gs pos="100000">
                <a:srgbClr val="00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1343850" y="866400"/>
            <a:ext cx="4185600" cy="36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19100" rtl="0">
              <a:spcBef>
                <a:spcPts val="600"/>
              </a:spcBef>
              <a:spcAft>
                <a:spcPts val="0"/>
              </a:spcAft>
              <a:buSzPts val="3000"/>
              <a:buFont typeface="Lexend Deca"/>
              <a:buChar char="⬡"/>
              <a:defRPr sz="3000">
                <a:latin typeface="Lexend Deca"/>
                <a:ea typeface="Lexend Deca"/>
                <a:cs typeface="Lexend Deca"/>
                <a:sym typeface="Lexend Deca"/>
              </a:defRPr>
            </a:lvl1pPr>
            <a:lvl2pPr marL="914400" lvl="1" indent="-419100" rtl="0">
              <a:spcBef>
                <a:spcPts val="0"/>
              </a:spcBef>
              <a:spcAft>
                <a:spcPts val="0"/>
              </a:spcAft>
              <a:buSzPts val="3000"/>
              <a:buFont typeface="Lexend Deca"/>
              <a:buChar char="∙"/>
              <a:defRPr sz="3000">
                <a:latin typeface="Lexend Deca"/>
                <a:ea typeface="Lexend Deca"/>
                <a:cs typeface="Lexend Deca"/>
                <a:sym typeface="Lexend Deca"/>
              </a:defRPr>
            </a:lvl2pPr>
            <a:lvl3pPr marL="1371600" lvl="2" indent="-419100" rtl="0">
              <a:spcBef>
                <a:spcPts val="0"/>
              </a:spcBef>
              <a:spcAft>
                <a:spcPts val="0"/>
              </a:spcAft>
              <a:buSzPts val="3000"/>
              <a:buFont typeface="Lexend Deca"/>
              <a:buChar char="∙"/>
              <a:defRPr sz="3000">
                <a:latin typeface="Lexend Deca"/>
                <a:ea typeface="Lexend Deca"/>
                <a:cs typeface="Lexend Deca"/>
                <a:sym typeface="Lexend Deca"/>
              </a:defRPr>
            </a:lvl3pPr>
            <a:lvl4pPr marL="1828800" lvl="3" indent="-419100" rtl="0">
              <a:spcBef>
                <a:spcPts val="0"/>
              </a:spcBef>
              <a:spcAft>
                <a:spcPts val="0"/>
              </a:spcAft>
              <a:buSzPts val="3000"/>
              <a:buFont typeface="Lexend Deca"/>
              <a:buChar char="●"/>
              <a:defRPr sz="3000">
                <a:latin typeface="Lexend Deca"/>
                <a:ea typeface="Lexend Deca"/>
                <a:cs typeface="Lexend Deca"/>
                <a:sym typeface="Lexend Deca"/>
              </a:defRPr>
            </a:lvl4pPr>
            <a:lvl5pPr marL="2286000" lvl="4" indent="-419100" rtl="0">
              <a:spcBef>
                <a:spcPts val="0"/>
              </a:spcBef>
              <a:spcAft>
                <a:spcPts val="0"/>
              </a:spcAft>
              <a:buSzPts val="3000"/>
              <a:buFont typeface="Lexend Deca"/>
              <a:buChar char="○"/>
              <a:defRPr sz="3000">
                <a:latin typeface="Lexend Deca"/>
                <a:ea typeface="Lexend Deca"/>
                <a:cs typeface="Lexend Deca"/>
                <a:sym typeface="Lexend Deca"/>
              </a:defRPr>
            </a:lvl5pPr>
            <a:lvl6pPr marL="2743200" lvl="5" indent="-419100" rtl="0">
              <a:spcBef>
                <a:spcPts val="0"/>
              </a:spcBef>
              <a:spcAft>
                <a:spcPts val="0"/>
              </a:spcAft>
              <a:buSzPts val="3000"/>
              <a:buFont typeface="Lexend Deca"/>
              <a:buChar char="■"/>
              <a:defRPr sz="3000">
                <a:latin typeface="Lexend Deca"/>
                <a:ea typeface="Lexend Deca"/>
                <a:cs typeface="Lexend Deca"/>
                <a:sym typeface="Lexend Deca"/>
              </a:defRPr>
            </a:lvl6pPr>
            <a:lvl7pPr marL="3200400" lvl="6" indent="-419100" rtl="0">
              <a:spcBef>
                <a:spcPts val="0"/>
              </a:spcBef>
              <a:spcAft>
                <a:spcPts val="0"/>
              </a:spcAft>
              <a:buSzPts val="3000"/>
              <a:buFont typeface="Lexend Deca"/>
              <a:buChar char="●"/>
              <a:defRPr sz="3000">
                <a:latin typeface="Lexend Deca"/>
                <a:ea typeface="Lexend Deca"/>
                <a:cs typeface="Lexend Deca"/>
                <a:sym typeface="Lexend Deca"/>
              </a:defRPr>
            </a:lvl7pPr>
            <a:lvl8pPr marL="3657600" lvl="7" indent="-419100" rtl="0">
              <a:spcBef>
                <a:spcPts val="0"/>
              </a:spcBef>
              <a:spcAft>
                <a:spcPts val="0"/>
              </a:spcAft>
              <a:buSzPts val="3000"/>
              <a:buFont typeface="Lexend Deca"/>
              <a:buChar char="○"/>
              <a:defRPr sz="3000">
                <a:latin typeface="Lexend Deca"/>
                <a:ea typeface="Lexend Deca"/>
                <a:cs typeface="Lexend Deca"/>
                <a:sym typeface="Lexend Deca"/>
              </a:defRPr>
            </a:lvl8pPr>
            <a:lvl9pPr marL="4114800" lvl="8" indent="-419100">
              <a:spcBef>
                <a:spcPts val="0"/>
              </a:spcBef>
              <a:spcAft>
                <a:spcPts val="0"/>
              </a:spcAft>
              <a:buSzPts val="3000"/>
              <a:buFont typeface="Lexend Deca"/>
              <a:buChar char="■"/>
              <a:defRPr sz="3000"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/>
          <p:nvPr/>
        </p:nvSpPr>
        <p:spPr>
          <a:xfrm>
            <a:off x="826414" y="656117"/>
            <a:ext cx="6138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“</a:t>
            </a:r>
            <a:endParaRPr sz="7200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580550" y="205975"/>
            <a:ext cx="60144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580550" y="1352550"/>
            <a:ext cx="6014400" cy="316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⬡"/>
              <a:defRPr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∙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∙"/>
              <a:defRPr/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580550" y="205975"/>
            <a:ext cx="60144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1"/>
          </p:nvPr>
        </p:nvSpPr>
        <p:spPr>
          <a:xfrm>
            <a:off x="580550" y="1352550"/>
            <a:ext cx="2841000" cy="31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⬡"/>
              <a:defRPr sz="2000"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∙"/>
              <a:defRPr sz="2000"/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Char char="∙"/>
              <a:defRPr sz="2000"/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2"/>
          </p:nvPr>
        </p:nvSpPr>
        <p:spPr>
          <a:xfrm>
            <a:off x="3753943" y="1352550"/>
            <a:ext cx="2841000" cy="31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⬡"/>
              <a:defRPr sz="2000"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∙"/>
              <a:defRPr sz="2000"/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Char char="∙"/>
              <a:defRPr sz="2000"/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580550" y="205975"/>
            <a:ext cx="64056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1"/>
          </p:nvPr>
        </p:nvSpPr>
        <p:spPr>
          <a:xfrm>
            <a:off x="580550" y="1352550"/>
            <a:ext cx="2005800" cy="3202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600"/>
              </a:spcBef>
              <a:spcAft>
                <a:spcPts val="0"/>
              </a:spcAft>
              <a:buSzPts val="1600"/>
              <a:buChar char="⬡"/>
              <a:defRPr sz="1600"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∙"/>
              <a:defRPr sz="1600"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Char char="∙"/>
              <a:defRPr sz="1600"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2"/>
          </p:nvPr>
        </p:nvSpPr>
        <p:spPr>
          <a:xfrm>
            <a:off x="2780447" y="1352550"/>
            <a:ext cx="2005800" cy="3202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600"/>
              </a:spcBef>
              <a:spcAft>
                <a:spcPts val="0"/>
              </a:spcAft>
              <a:buSzPts val="1600"/>
              <a:buChar char="⬡"/>
              <a:defRPr sz="1600"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∙"/>
              <a:defRPr sz="1600"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Char char="∙"/>
              <a:defRPr sz="1600"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3"/>
          </p:nvPr>
        </p:nvSpPr>
        <p:spPr>
          <a:xfrm>
            <a:off x="4980344" y="1352550"/>
            <a:ext cx="2005800" cy="3202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600"/>
              </a:spcBef>
              <a:spcAft>
                <a:spcPts val="0"/>
              </a:spcAft>
              <a:buSzPts val="1600"/>
              <a:buChar char="⬡"/>
              <a:defRPr sz="1600"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∙"/>
              <a:defRPr sz="1600"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Char char="∙"/>
              <a:defRPr sz="1600"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8"/>
          <p:cNvSpPr txBox="1">
            <a:spLocks noGrp="1"/>
          </p:cNvSpPr>
          <p:nvPr>
            <p:ph type="title"/>
          </p:nvPr>
        </p:nvSpPr>
        <p:spPr>
          <a:xfrm>
            <a:off x="580550" y="205975"/>
            <a:ext cx="60144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9"/>
          <p:cNvSpPr txBox="1">
            <a:spLocks noGrp="1"/>
          </p:cNvSpPr>
          <p:nvPr>
            <p:ph type="body" idx="1"/>
          </p:nvPr>
        </p:nvSpPr>
        <p:spPr>
          <a:xfrm>
            <a:off x="580550" y="4406300"/>
            <a:ext cx="6135900" cy="51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>
              <a:spcBef>
                <a:spcPts val="360"/>
              </a:spcBef>
              <a:spcAft>
                <a:spcPts val="0"/>
              </a:spcAft>
              <a:buSzPts val="1400"/>
              <a:buNone/>
              <a:defRPr sz="1400"/>
            </a:lvl1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· Big circuit">
  <p:cSld name="BLANK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_1_1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gradFill>
          <a:gsLst>
            <a:gs pos="0">
              <a:srgbClr val="A458FF"/>
            </a:gs>
            <a:gs pos="39000">
              <a:srgbClr val="3544FF"/>
            </a:gs>
            <a:gs pos="100000">
              <a:srgbClr val="0A2F9E"/>
            </a:gs>
          </a:gsLst>
          <a:lin ang="8100019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80550" y="205975"/>
            <a:ext cx="6014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80550" y="1352550"/>
            <a:ext cx="6014400" cy="3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Muli"/>
              <a:buChar char="⬡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1pPr>
            <a:lvl2pPr marL="914400" lvl="1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Muli"/>
              <a:buChar char="∙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2pPr>
            <a:lvl3pPr marL="1371600" lvl="2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Muli"/>
              <a:buChar char="∙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3pPr>
            <a:lvl4pPr marL="1828800" lvl="3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●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4pPr>
            <a:lvl5pPr marL="2286000" lvl="4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○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5pPr>
            <a:lvl6pPr marL="2743200" lvl="5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■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6pPr>
            <a:lvl7pPr marL="3200400" lvl="6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●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7pPr>
            <a:lvl8pPr marL="3657600" lvl="7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○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8pPr>
            <a:lvl9pPr marL="4114800" lvl="8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■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7" r:id="rId9"/>
    <p:sldLayoutId id="2147483658" r:id="rId10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3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>
            <a:spLocks noGrp="1"/>
          </p:cNvSpPr>
          <p:nvPr>
            <p:ph type="ctrTitle"/>
          </p:nvPr>
        </p:nvSpPr>
        <p:spPr>
          <a:xfrm>
            <a:off x="611372" y="2502756"/>
            <a:ext cx="4539000" cy="115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de-CH" sz="3600" b="0" dirty="0">
                <a:solidFill>
                  <a:srgbClr val="000000"/>
                </a:solidFill>
                <a:latin typeface="Arial" panose="020B0604020202020204" pitchFamily="34" charset="0"/>
              </a:rPr>
              <a:t>Dizajnimi i rrjetës së </a:t>
            </a:r>
            <a:r>
              <a:rPr lang="de-CH" sz="3600" dirty="0">
                <a:solidFill>
                  <a:srgbClr val="000000"/>
                </a:solidFill>
                <a:latin typeface="Arial" panose="020B0604020202020204" pitchFamily="34" charset="0"/>
              </a:rPr>
              <a:t>Kompanis</a:t>
            </a:r>
            <a:r>
              <a:rPr lang="de-CH" sz="3600" i="0" dirty="0">
                <a:solidFill>
                  <a:srgbClr val="141414"/>
                </a:solidFill>
                <a:effectLst/>
                <a:latin typeface="Open Sans" panose="020B0604020202020204" pitchFamily="34" charset="0"/>
              </a:rPr>
              <a:t>ë</a:t>
            </a:r>
            <a:r>
              <a:rPr lang="de-CH" sz="3600" dirty="0">
                <a:solidFill>
                  <a:srgbClr val="000000"/>
                </a:solidFill>
                <a:latin typeface="Arial" panose="020B0604020202020204" pitchFamily="34" charset="0"/>
              </a:rPr>
              <a:t> Triple A </a:t>
            </a:r>
            <a:r>
              <a:rPr lang="de-CH" sz="3600" b="0" dirty="0">
                <a:solidFill>
                  <a:srgbClr val="000000"/>
                </a:solidFill>
                <a:latin typeface="Arial" panose="020B0604020202020204" pitchFamily="34" charset="0"/>
              </a:rPr>
              <a:t>me Packet Tracer</a:t>
            </a:r>
            <a:br>
              <a:rPr lang="de-CH" b="0" dirty="0">
                <a:effectLst/>
              </a:rPr>
            </a:br>
            <a:br>
              <a:rPr lang="de-CH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US" sz="2000" i="1" dirty="0">
                <a:solidFill>
                  <a:schemeClr val="tx1"/>
                </a:solidFill>
              </a:rPr>
              <a:t>Lënda: Rrjetat Kompjuterike</a:t>
            </a:r>
            <a:br>
              <a:rPr lang="en-US" sz="2000" i="1" dirty="0">
                <a:solidFill>
                  <a:schemeClr val="tx1"/>
                </a:solidFill>
              </a:rPr>
            </a:br>
            <a:br>
              <a:rPr lang="de-CH" sz="2000" dirty="0"/>
            </a:br>
            <a:endParaRPr sz="2000" dirty="0"/>
          </a:p>
        </p:txBody>
      </p:sp>
      <p:pic>
        <p:nvPicPr>
          <p:cNvPr id="61" name="Google Shape;6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4475" y="1050906"/>
            <a:ext cx="1782850" cy="203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20814" y="378324"/>
            <a:ext cx="662500" cy="72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93770" y="884611"/>
            <a:ext cx="482075" cy="52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21692" y="4034576"/>
            <a:ext cx="586165" cy="68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404399" y="3624439"/>
            <a:ext cx="321850" cy="44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664593" y="3757882"/>
            <a:ext cx="321850" cy="4484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DAFAA36-A28F-4EA5-BAF3-86B9DBC579B6}"/>
              </a:ext>
            </a:extLst>
          </p:cNvPr>
          <p:cNvSpPr txBox="1"/>
          <p:nvPr/>
        </p:nvSpPr>
        <p:spPr>
          <a:xfrm>
            <a:off x="157557" y="4206307"/>
            <a:ext cx="479949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solidFill>
                  <a:schemeClr val="tx1">
                    <a:lumMod val="65000"/>
                  </a:schemeClr>
                </a:solidFill>
              </a:rPr>
              <a:t>Profesori</a:t>
            </a:r>
            <a:r>
              <a:rPr lang="en-US" sz="1400" b="1" dirty="0">
                <a:solidFill>
                  <a:schemeClr val="tx1">
                    <a:lumMod val="6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tx1">
                    <a:lumMod val="65000"/>
                  </a:schemeClr>
                </a:solidFill>
              </a:rPr>
              <a:t>i</a:t>
            </a:r>
            <a:r>
              <a:rPr lang="en-US" sz="1400" b="1" dirty="0">
                <a:solidFill>
                  <a:schemeClr val="tx1">
                    <a:lumMod val="6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tx1">
                    <a:lumMod val="65000"/>
                  </a:schemeClr>
                </a:solidFill>
              </a:rPr>
              <a:t>lëndës</a:t>
            </a:r>
            <a:r>
              <a:rPr lang="en-US" sz="1400" b="1" dirty="0">
                <a:solidFill>
                  <a:schemeClr val="tx1">
                    <a:lumMod val="65000"/>
                  </a:schemeClr>
                </a:solidFill>
              </a:rPr>
              <a:t>: </a:t>
            </a:r>
            <a:r>
              <a:rPr lang="en-US" sz="1400" b="1" dirty="0" err="1">
                <a:solidFill>
                  <a:schemeClr val="tx1">
                    <a:lumMod val="65000"/>
                  </a:schemeClr>
                </a:solidFill>
              </a:rPr>
              <a:t>Prof.Blerim</a:t>
            </a:r>
            <a:r>
              <a:rPr lang="en-US" sz="1400" b="1" dirty="0">
                <a:solidFill>
                  <a:schemeClr val="tx1">
                    <a:lumMod val="6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tx1">
                    <a:lumMod val="65000"/>
                  </a:schemeClr>
                </a:solidFill>
              </a:rPr>
              <a:t>Rexha</a:t>
            </a:r>
            <a:r>
              <a:rPr lang="en-US" sz="1400" b="1" dirty="0">
                <a:solidFill>
                  <a:schemeClr val="tx1">
                    <a:lumMod val="65000"/>
                  </a:schemeClr>
                </a:solidFill>
              </a:rPr>
              <a:t> </a:t>
            </a:r>
          </a:p>
          <a:p>
            <a:r>
              <a:rPr lang="en-US" sz="1400" b="1" dirty="0" err="1">
                <a:solidFill>
                  <a:schemeClr val="tx1">
                    <a:lumMod val="65000"/>
                  </a:schemeClr>
                </a:solidFill>
              </a:rPr>
              <a:t>Asistenti</a:t>
            </a:r>
            <a:r>
              <a:rPr lang="en-US" sz="1400" b="1" dirty="0">
                <a:solidFill>
                  <a:schemeClr val="tx1">
                    <a:lumMod val="6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tx1">
                    <a:lumMod val="65000"/>
                  </a:schemeClr>
                </a:solidFill>
              </a:rPr>
              <a:t>i</a:t>
            </a:r>
            <a:r>
              <a:rPr lang="en-US" sz="1400" b="1" dirty="0">
                <a:solidFill>
                  <a:schemeClr val="tx1">
                    <a:lumMod val="6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tx1">
                    <a:lumMod val="65000"/>
                  </a:schemeClr>
                </a:solidFill>
              </a:rPr>
              <a:t>lëndës</a:t>
            </a:r>
            <a:r>
              <a:rPr lang="en-US" sz="1400" b="1" dirty="0">
                <a:solidFill>
                  <a:schemeClr val="tx1">
                    <a:lumMod val="65000"/>
                  </a:schemeClr>
                </a:solidFill>
              </a:rPr>
              <a:t>: </a:t>
            </a:r>
            <a:r>
              <a:rPr lang="en-US" sz="1400" b="1" dirty="0" err="1">
                <a:solidFill>
                  <a:schemeClr val="tx1">
                    <a:lumMod val="65000"/>
                  </a:schemeClr>
                </a:solidFill>
              </a:rPr>
              <a:t>Msc.Haxhi</a:t>
            </a:r>
            <a:r>
              <a:rPr lang="en-US" sz="1400" b="1" dirty="0">
                <a:solidFill>
                  <a:schemeClr val="tx1">
                    <a:lumMod val="6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tx1">
                    <a:lumMod val="65000"/>
                  </a:schemeClr>
                </a:solidFill>
              </a:rPr>
              <a:t>Lajqi</a:t>
            </a:r>
            <a:r>
              <a:rPr lang="en-US" sz="1400" b="1" dirty="0">
                <a:solidFill>
                  <a:schemeClr val="tx1">
                    <a:lumMod val="65000"/>
                  </a:schemeClr>
                </a:solidFill>
              </a:rPr>
              <a:t> </a:t>
            </a:r>
          </a:p>
          <a:p>
            <a:endParaRPr lang="de-CH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89BB00-D2D5-4484-B009-AB0939158310}"/>
              </a:ext>
            </a:extLst>
          </p:cNvPr>
          <p:cNvSpPr txBox="1"/>
          <p:nvPr/>
        </p:nvSpPr>
        <p:spPr>
          <a:xfrm>
            <a:off x="6754620" y="4151957"/>
            <a:ext cx="20946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 err="1"/>
              <a:t>Punoi</a:t>
            </a:r>
            <a:r>
              <a:rPr lang="en-GB" dirty="0"/>
              <a:t>:Alma Latif</a:t>
            </a:r>
            <a:r>
              <a:rPr lang="de-CH" dirty="0"/>
              <a:t>i</a:t>
            </a:r>
          </a:p>
          <a:p>
            <a:r>
              <a:rPr lang="de-CH" dirty="0"/>
              <a:t>          Albina Ahmeti</a:t>
            </a:r>
          </a:p>
          <a:p>
            <a:r>
              <a:rPr lang="de-CH" dirty="0"/>
              <a:t>           Albiona Vukaj</a:t>
            </a:r>
            <a:endParaRPr lang="en-GB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body" idx="4294967295"/>
          </p:nvPr>
        </p:nvSpPr>
        <p:spPr>
          <a:xfrm>
            <a:off x="5219442" y="1576438"/>
            <a:ext cx="2840037" cy="3154363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GB" sz="1200"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b="1" dirty="0"/>
          </a:p>
        </p:txBody>
      </p:sp>
      <p:sp>
        <p:nvSpPr>
          <p:cNvPr id="74" name="Google Shape;74;p14"/>
          <p:cNvSpPr txBox="1">
            <a:spLocks noGrp="1"/>
          </p:cNvSpPr>
          <p:nvPr>
            <p:ph type="body" idx="4294967295"/>
          </p:nvPr>
        </p:nvSpPr>
        <p:spPr>
          <a:xfrm>
            <a:off x="0" y="754063"/>
            <a:ext cx="6013450" cy="59848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solidFill>
                <a:schemeClr val="accent4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chemeClr val="accent4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0E32D1-B84A-48F6-8682-EB2FF802D578}"/>
              </a:ext>
            </a:extLst>
          </p:cNvPr>
          <p:cNvSpPr txBox="1"/>
          <p:nvPr/>
        </p:nvSpPr>
        <p:spPr>
          <a:xfrm>
            <a:off x="1244009" y="446286"/>
            <a:ext cx="7070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HYRJE</a:t>
            </a:r>
            <a:endParaRPr lang="de-CH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8CDCCF-7B52-492F-BC4F-A76F721394CD}"/>
              </a:ext>
            </a:extLst>
          </p:cNvPr>
          <p:cNvSpPr txBox="1"/>
          <p:nvPr/>
        </p:nvSpPr>
        <p:spPr>
          <a:xfrm>
            <a:off x="744279" y="1352550"/>
            <a:ext cx="73152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 Tracer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është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një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vegël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simulative,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vizuele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që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mundëson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ndërtimin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rrjetave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sipas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dëshirës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sonë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duke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njoftuar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më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mirë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secilën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pajisje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që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është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pjesë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përbërëse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një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rrjeti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Packet Tracer 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lejon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përdoruesve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të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ndërtojnë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topologji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të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rrjetave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përmes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metodës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“Drag and Drop”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të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router-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switch-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dhe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pajisjeve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tjera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Lidhja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fizike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ndërmjet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pajisjeve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realizohet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përmes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kabllove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Kjo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vegël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mbështet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pothuajse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të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gjitha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protokolet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që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nevojiten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për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komunikimin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pajisjeve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në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rrjetë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Vegla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dirty="0" err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ë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rdorur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dirty="0" err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ë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dizajnimin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rrjet</a:t>
            </a:r>
            <a:r>
              <a:rPr lang="en-US" dirty="0" err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ë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është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Cisco Packet Tracer 7.3.0.</a:t>
            </a:r>
          </a:p>
          <a:p>
            <a:endParaRPr lang="de-CH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81" name="Google Shape;81;p15"/>
          <p:cNvSpPr txBox="1">
            <a:spLocks noGrp="1"/>
          </p:cNvSpPr>
          <p:nvPr>
            <p:ph type="subTitle" idx="4294967295"/>
          </p:nvPr>
        </p:nvSpPr>
        <p:spPr>
          <a:xfrm>
            <a:off x="510363" y="894427"/>
            <a:ext cx="2796364" cy="3354646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buNone/>
            </a:pPr>
            <a:r>
              <a:rPr lang="en-US" sz="1400" dirty="0" err="1"/>
              <a:t>Në</a:t>
            </a:r>
            <a:r>
              <a:rPr lang="en-US" sz="1400" dirty="0"/>
              <a:t> </a:t>
            </a:r>
            <a:r>
              <a:rPr lang="en-US" sz="1400" dirty="0" err="1"/>
              <a:t>këtë</a:t>
            </a:r>
            <a:r>
              <a:rPr lang="en-US" sz="1400" dirty="0"/>
              <a:t> </a:t>
            </a:r>
            <a:r>
              <a:rPr lang="en-US" sz="1400" dirty="0" err="1"/>
              <a:t>projekt</a:t>
            </a:r>
            <a:r>
              <a:rPr lang="en-US" sz="1400" dirty="0"/>
              <a:t> </a:t>
            </a:r>
            <a:r>
              <a:rPr lang="en-US" sz="1400" dirty="0" err="1"/>
              <a:t>kemi</a:t>
            </a:r>
            <a:r>
              <a:rPr lang="en-US" sz="1400" dirty="0"/>
              <a:t> </a:t>
            </a:r>
            <a:r>
              <a:rPr lang="en-US" sz="1400" dirty="0" err="1"/>
              <a:t>dizajnuar</a:t>
            </a:r>
            <a:r>
              <a:rPr lang="en-US" sz="1400" dirty="0"/>
              <a:t> </a:t>
            </a:r>
            <a:r>
              <a:rPr lang="en-US" sz="1400" dirty="0" err="1"/>
              <a:t>rrjetën</a:t>
            </a:r>
            <a:r>
              <a:rPr lang="en-US" sz="1400" dirty="0"/>
              <a:t> e </a:t>
            </a:r>
            <a:r>
              <a:rPr lang="en-US" sz="1400" dirty="0" err="1"/>
              <a:t>kompanise</a:t>
            </a:r>
            <a:r>
              <a:rPr lang="en-US" sz="1400" dirty="0"/>
              <a:t> </a:t>
            </a:r>
            <a:r>
              <a:rPr lang="en-US" sz="1400" dirty="0" err="1"/>
              <a:t>TripleA</a:t>
            </a:r>
            <a:r>
              <a:rPr lang="en-US" sz="1400" dirty="0"/>
              <a:t>  me </a:t>
            </a:r>
            <a:r>
              <a:rPr lang="en-US" sz="1400" dirty="0" err="1"/>
              <a:t>pesë</a:t>
            </a:r>
            <a:r>
              <a:rPr lang="en-US" sz="1400" dirty="0"/>
              <a:t> </a:t>
            </a:r>
            <a:r>
              <a:rPr lang="en-US" sz="1400" dirty="0" err="1"/>
              <a:t>seli</a:t>
            </a:r>
            <a:r>
              <a:rPr lang="en-US" sz="1400" dirty="0"/>
              <a:t> </a:t>
            </a:r>
            <a:r>
              <a:rPr lang="en-US" sz="1400" dirty="0" err="1"/>
              <a:t>të</a:t>
            </a:r>
            <a:r>
              <a:rPr lang="en-US" sz="1400" dirty="0"/>
              <a:t> </a:t>
            </a:r>
            <a:r>
              <a:rPr lang="en-US" sz="1400" dirty="0" err="1"/>
              <a:t>shpërndara</a:t>
            </a:r>
            <a:r>
              <a:rPr lang="en-US" sz="1400" dirty="0"/>
              <a:t> </a:t>
            </a:r>
            <a:r>
              <a:rPr lang="en-US" sz="1400" dirty="0" err="1"/>
              <a:t>në</a:t>
            </a:r>
            <a:r>
              <a:rPr lang="en-US" sz="1400" dirty="0"/>
              <a:t> </a:t>
            </a:r>
            <a:r>
              <a:rPr lang="en-US" sz="1400" dirty="0" err="1"/>
              <a:t>qytete</a:t>
            </a:r>
            <a:r>
              <a:rPr lang="en-US" sz="1400" dirty="0"/>
              <a:t> </a:t>
            </a:r>
            <a:r>
              <a:rPr lang="en-US" sz="1400" dirty="0" err="1"/>
              <a:t>të</a:t>
            </a:r>
            <a:r>
              <a:rPr lang="en-US" sz="1400" dirty="0"/>
              <a:t> </a:t>
            </a:r>
            <a:r>
              <a:rPr lang="en-US" sz="1400" dirty="0" err="1"/>
              <a:t>ndryshme</a:t>
            </a:r>
            <a:r>
              <a:rPr lang="en-US" sz="1400" dirty="0"/>
              <a:t> </a:t>
            </a:r>
            <a:r>
              <a:rPr lang="en-US" sz="1400" dirty="0" err="1"/>
              <a:t>të</a:t>
            </a:r>
            <a:r>
              <a:rPr lang="en-US" sz="1400" dirty="0"/>
              <a:t> </a:t>
            </a:r>
            <a:r>
              <a:rPr lang="en-US" sz="1400" dirty="0" err="1"/>
              <a:t>Kosovës</a:t>
            </a:r>
            <a:r>
              <a:rPr lang="en-US" sz="1400" dirty="0"/>
              <a:t>. </a:t>
            </a:r>
            <a:r>
              <a:rPr lang="en-US" sz="1400" dirty="0" err="1"/>
              <a:t>Dega</a:t>
            </a:r>
            <a:r>
              <a:rPr lang="en-US" sz="1400" dirty="0"/>
              <a:t> </a:t>
            </a:r>
            <a:r>
              <a:rPr lang="en-US" sz="1400" dirty="0" err="1"/>
              <a:t>kryesore</a:t>
            </a:r>
            <a:r>
              <a:rPr lang="en-US" sz="1400" dirty="0"/>
              <a:t> e </a:t>
            </a:r>
            <a:r>
              <a:rPr lang="en-US" sz="1400" dirty="0" err="1"/>
              <a:t>bankës</a:t>
            </a:r>
            <a:r>
              <a:rPr lang="en-US" sz="1400" dirty="0"/>
              <a:t> </a:t>
            </a:r>
            <a:r>
              <a:rPr lang="en-US" sz="1400" dirty="0" err="1"/>
              <a:t>gjendet</a:t>
            </a:r>
            <a:r>
              <a:rPr lang="en-US" sz="1400" dirty="0"/>
              <a:t> </a:t>
            </a:r>
            <a:r>
              <a:rPr lang="en-US" sz="1400" dirty="0" err="1"/>
              <a:t>në</a:t>
            </a:r>
            <a:r>
              <a:rPr lang="en-US" sz="1400" dirty="0"/>
              <a:t> </a:t>
            </a:r>
            <a:r>
              <a:rPr lang="en-US" sz="1400" dirty="0" err="1"/>
              <a:t>qytetin</a:t>
            </a:r>
            <a:r>
              <a:rPr lang="en-US" sz="1400" dirty="0"/>
              <a:t> e </a:t>
            </a:r>
            <a:r>
              <a:rPr lang="en-US" sz="1400" dirty="0" err="1"/>
              <a:t>Prishtinës</a:t>
            </a:r>
            <a:r>
              <a:rPr lang="en-US" sz="1400" dirty="0"/>
              <a:t> </a:t>
            </a:r>
            <a:r>
              <a:rPr lang="en-US" sz="1400" dirty="0" err="1"/>
              <a:t>dhe</a:t>
            </a:r>
            <a:r>
              <a:rPr lang="en-US" sz="1400" dirty="0"/>
              <a:t> </a:t>
            </a:r>
            <a:r>
              <a:rPr lang="en-US" sz="1400" dirty="0" err="1"/>
              <a:t>përmban</a:t>
            </a:r>
            <a:r>
              <a:rPr lang="en-US" sz="1400" dirty="0"/>
              <a:t> </a:t>
            </a:r>
            <a:r>
              <a:rPr lang="en-US" sz="1400" dirty="0" err="1"/>
              <a:t>kompjuterë</a:t>
            </a:r>
            <a:r>
              <a:rPr lang="en-US" sz="1400" dirty="0"/>
              <a:t>, printer, </a:t>
            </a:r>
            <a:r>
              <a:rPr lang="en-US" sz="1400" dirty="0" err="1"/>
              <a:t>një</a:t>
            </a:r>
            <a:r>
              <a:rPr lang="en-US" sz="1400" dirty="0"/>
              <a:t> Wi-Fi router </a:t>
            </a:r>
            <a:r>
              <a:rPr lang="en-US" sz="1400" dirty="0" err="1"/>
              <a:t>për</a:t>
            </a:r>
            <a:r>
              <a:rPr lang="en-US" sz="1400" dirty="0"/>
              <a:t> </a:t>
            </a:r>
            <a:r>
              <a:rPr lang="en-US" sz="1400" dirty="0" err="1"/>
              <a:t>të</a:t>
            </a:r>
            <a:r>
              <a:rPr lang="en-US" sz="1400" dirty="0"/>
              <a:t> </a:t>
            </a:r>
            <a:r>
              <a:rPr lang="en-US" sz="1400" dirty="0" err="1"/>
              <a:t>cilin</a:t>
            </a:r>
            <a:r>
              <a:rPr lang="en-US" sz="1400" dirty="0"/>
              <a:t> </a:t>
            </a:r>
            <a:r>
              <a:rPr lang="en-US" sz="1400" dirty="0" err="1"/>
              <a:t>janë</a:t>
            </a:r>
            <a:r>
              <a:rPr lang="en-US" sz="1400" dirty="0"/>
              <a:t> </a:t>
            </a:r>
            <a:r>
              <a:rPr lang="en-US" sz="1400" dirty="0" err="1"/>
              <a:t>të</a:t>
            </a:r>
            <a:r>
              <a:rPr lang="en-US" sz="1400" dirty="0"/>
              <a:t> </a:t>
            </a:r>
            <a:r>
              <a:rPr lang="en-US" sz="1400" dirty="0" err="1"/>
              <a:t>lidhur</a:t>
            </a:r>
            <a:r>
              <a:rPr lang="en-US" sz="1400" dirty="0"/>
              <a:t> </a:t>
            </a:r>
            <a:r>
              <a:rPr lang="en-US" sz="1400" dirty="0" err="1"/>
              <a:t>një</a:t>
            </a:r>
            <a:r>
              <a:rPr lang="en-US" sz="1400" dirty="0"/>
              <a:t> laptop </a:t>
            </a:r>
            <a:r>
              <a:rPr lang="en-US" sz="1400" dirty="0" err="1"/>
              <a:t>dhe</a:t>
            </a:r>
            <a:r>
              <a:rPr lang="en-US" sz="1400" dirty="0"/>
              <a:t> </a:t>
            </a:r>
            <a:r>
              <a:rPr lang="en-US" sz="1400" dirty="0" err="1"/>
              <a:t>një</a:t>
            </a:r>
            <a:r>
              <a:rPr lang="en-US" sz="1400" dirty="0"/>
              <a:t> smartphone, </a:t>
            </a:r>
            <a:r>
              <a:rPr lang="en-US" sz="1400" dirty="0" err="1"/>
              <a:t>këtu</a:t>
            </a:r>
            <a:r>
              <a:rPr lang="en-US" sz="1400" dirty="0"/>
              <a:t> </a:t>
            </a:r>
            <a:r>
              <a:rPr lang="en-US" sz="1400" dirty="0" err="1"/>
              <a:t>gjenden</a:t>
            </a:r>
            <a:r>
              <a:rPr lang="en-US" sz="1400" dirty="0"/>
              <a:t> </a:t>
            </a:r>
            <a:r>
              <a:rPr lang="en-US" sz="1400" dirty="0" err="1"/>
              <a:t>edhe</a:t>
            </a:r>
            <a:r>
              <a:rPr lang="en-US" sz="1400" dirty="0"/>
              <a:t> DNS Server </a:t>
            </a:r>
            <a:r>
              <a:rPr lang="en-US" sz="1400" dirty="0" err="1"/>
              <a:t>dhe</a:t>
            </a:r>
            <a:r>
              <a:rPr lang="en-US" sz="1400" dirty="0"/>
              <a:t> WEB Server </a:t>
            </a:r>
            <a:r>
              <a:rPr lang="en-US" sz="1400" dirty="0" err="1"/>
              <a:t>si</a:t>
            </a:r>
            <a:r>
              <a:rPr lang="en-US" sz="1400" dirty="0"/>
              <a:t> </a:t>
            </a:r>
            <a:r>
              <a:rPr lang="en-US" sz="1400" dirty="0" err="1"/>
              <a:t>dhe</a:t>
            </a:r>
            <a:r>
              <a:rPr lang="en-US" sz="1400" dirty="0"/>
              <a:t> </a:t>
            </a:r>
            <a:r>
              <a:rPr lang="en-US" sz="1400" dirty="0" err="1"/>
              <a:t>kemi</a:t>
            </a:r>
            <a:r>
              <a:rPr lang="en-US" sz="1400" dirty="0"/>
              <a:t> </a:t>
            </a:r>
            <a:r>
              <a:rPr lang="en-US" sz="1400" dirty="0" err="1"/>
              <a:t>krijuar</a:t>
            </a:r>
            <a:r>
              <a:rPr lang="en-US" sz="1400" dirty="0"/>
              <a:t> </a:t>
            </a:r>
            <a:r>
              <a:rPr lang="en-US" sz="1400" dirty="0" err="1"/>
              <a:t>dy</a:t>
            </a:r>
            <a:r>
              <a:rPr lang="en-US" sz="1400" dirty="0"/>
              <a:t> VLAN </a:t>
            </a:r>
            <a:r>
              <a:rPr lang="en-US" sz="1400" dirty="0" err="1"/>
              <a:t>përmes</a:t>
            </a:r>
            <a:r>
              <a:rPr lang="en-US" sz="1400" dirty="0"/>
              <a:t> Sub-Interface, </a:t>
            </a:r>
            <a:r>
              <a:rPr lang="en-US" sz="1400" dirty="0" err="1"/>
              <a:t>njërën</a:t>
            </a:r>
            <a:r>
              <a:rPr lang="en-US" sz="1400" dirty="0"/>
              <a:t> </a:t>
            </a:r>
            <a:r>
              <a:rPr lang="en-US" sz="1400" dirty="0" err="1"/>
              <a:t>për</a:t>
            </a:r>
            <a:r>
              <a:rPr lang="en-US" sz="1400" dirty="0"/>
              <a:t> PC-</a:t>
            </a:r>
            <a:r>
              <a:rPr lang="en-US" sz="1400" dirty="0" err="1"/>
              <a:t>të</a:t>
            </a:r>
            <a:r>
              <a:rPr lang="en-US" sz="1400" dirty="0"/>
              <a:t>, </a:t>
            </a:r>
            <a:r>
              <a:rPr lang="en-US" sz="1400" dirty="0" err="1"/>
              <a:t>kurse</a:t>
            </a:r>
            <a:r>
              <a:rPr lang="en-US" sz="1400" dirty="0"/>
              <a:t>, </a:t>
            </a:r>
            <a:r>
              <a:rPr lang="en-US" sz="1400" dirty="0" err="1"/>
              <a:t>tjetrën</a:t>
            </a:r>
            <a:r>
              <a:rPr lang="en-US" sz="1400" dirty="0"/>
              <a:t> </a:t>
            </a:r>
            <a:r>
              <a:rPr lang="en-US" sz="1400" dirty="0" err="1"/>
              <a:t>për</a:t>
            </a:r>
            <a:r>
              <a:rPr lang="en-US" sz="1400" dirty="0"/>
              <a:t> </a:t>
            </a:r>
            <a:r>
              <a:rPr lang="en-US" sz="1400" dirty="0" err="1"/>
              <a:t>serverët</a:t>
            </a:r>
            <a:r>
              <a:rPr lang="en-US" sz="1400" dirty="0"/>
              <a:t>. 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8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BFAF87-CCDE-4D72-BDE3-2B129BB573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4563" y="894427"/>
            <a:ext cx="5759437" cy="3354646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D74D05D-9393-46F3-9863-F580C902E97B}"/>
              </a:ext>
            </a:extLst>
          </p:cNvPr>
          <p:cNvSpPr txBox="1"/>
          <p:nvPr/>
        </p:nvSpPr>
        <p:spPr>
          <a:xfrm>
            <a:off x="1908545" y="193594"/>
            <a:ext cx="51248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 P</a:t>
            </a:r>
            <a:r>
              <a:rPr lang="en-US" sz="2000" dirty="0">
                <a:ea typeface="+mj-lt"/>
                <a:cs typeface="+mj-lt"/>
              </a:rPr>
              <a:t>Ë</a:t>
            </a:r>
            <a:r>
              <a:rPr lang="en-US" sz="2000" dirty="0"/>
              <a:t>RSHKRIMI I PROJEKTIT</a:t>
            </a:r>
            <a:endParaRPr lang="de-CH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076D9A-5C4D-4DA2-BBC0-9F21190A9AC7}"/>
              </a:ext>
            </a:extLst>
          </p:cNvPr>
          <p:cNvSpPr txBox="1"/>
          <p:nvPr/>
        </p:nvSpPr>
        <p:spPr>
          <a:xfrm>
            <a:off x="442370" y="202019"/>
            <a:ext cx="7240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/>
              <a:t>PAJISJET DHE KONFIGURIMI I TYRE</a:t>
            </a:r>
            <a:endParaRPr lang="de-CH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642955-9262-47E2-9B39-0EF663FBF3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219" y="961800"/>
            <a:ext cx="2353003" cy="16099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D52956A-0656-4B69-83D4-F6947A6DC7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4795" y="961800"/>
            <a:ext cx="2029108" cy="16099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F871170-582C-484B-B33D-E015421ADB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0476" y="961800"/>
            <a:ext cx="1782557" cy="16099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648B6F5-CC73-4192-B8D5-3507DE8C84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7966" y="2962199"/>
            <a:ext cx="1571844" cy="160994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B332448-EEB0-43A0-A913-B50FC4623F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44795" y="2962198"/>
            <a:ext cx="1705213" cy="16099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F4376DE-4FDB-476D-B237-9947FFDB781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0476" y="2962197"/>
            <a:ext cx="1448002" cy="16099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>
            <a:spLocks noGrp="1"/>
          </p:cNvSpPr>
          <p:nvPr>
            <p:ph type="ctrTitle" idx="4294967295"/>
          </p:nvPr>
        </p:nvSpPr>
        <p:spPr>
          <a:xfrm>
            <a:off x="435935" y="340501"/>
            <a:ext cx="4264025" cy="1160462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KONFIGURIMI I ROUTER-IT</a:t>
            </a:r>
            <a:endParaRPr dirty="0"/>
          </a:p>
        </p:txBody>
      </p:sp>
      <p:sp>
        <p:nvSpPr>
          <p:cNvPr id="95" name="Google Shape;95;p17"/>
          <p:cNvSpPr txBox="1">
            <a:spLocks noGrp="1"/>
          </p:cNvSpPr>
          <p:nvPr>
            <p:ph type="subTitle" idx="4294967295"/>
          </p:nvPr>
        </p:nvSpPr>
        <p:spPr>
          <a:xfrm>
            <a:off x="435934" y="2014638"/>
            <a:ext cx="4264025" cy="78422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Router-</a:t>
            </a:r>
            <a:r>
              <a:rPr lang="en-US" sz="16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është</a:t>
            </a:r>
            <a:r>
              <a:rPr lang="en-US" sz="16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një</a:t>
            </a:r>
            <a:r>
              <a:rPr lang="en-US" sz="16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pajisje</a:t>
            </a:r>
            <a:r>
              <a:rPr lang="en-US" sz="16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që</a:t>
            </a:r>
            <a:r>
              <a:rPr lang="en-US" sz="16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bënë</a:t>
            </a:r>
            <a:r>
              <a:rPr lang="en-US" sz="16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shkëmbimin</a:t>
            </a:r>
            <a:r>
              <a:rPr lang="en-US" sz="16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e </a:t>
            </a:r>
            <a:r>
              <a:rPr lang="en-US" sz="16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të</a:t>
            </a:r>
            <a:r>
              <a:rPr lang="en-US" sz="16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dhënave</a:t>
            </a:r>
            <a:r>
              <a:rPr lang="en-US" sz="16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ndërmjet</a:t>
            </a:r>
            <a:r>
              <a:rPr lang="en-US" sz="16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rrjetave</a:t>
            </a:r>
            <a:r>
              <a:rPr lang="en-US" sz="16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kompjuterike</a:t>
            </a:r>
            <a:r>
              <a:rPr lang="en-US" sz="16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. Router-</a:t>
            </a:r>
            <a:r>
              <a:rPr lang="en-US" sz="16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mund</a:t>
            </a:r>
            <a:r>
              <a:rPr lang="en-US" sz="16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të</a:t>
            </a:r>
            <a:r>
              <a:rPr lang="en-US" sz="16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ketë</a:t>
            </a:r>
            <a:r>
              <a:rPr lang="en-US" sz="16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disa</a:t>
            </a:r>
            <a:r>
              <a:rPr lang="en-US" sz="16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interface </a:t>
            </a:r>
            <a:r>
              <a:rPr lang="en-US" sz="16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për</a:t>
            </a:r>
            <a:r>
              <a:rPr lang="en-US" sz="16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lloje</a:t>
            </a:r>
            <a:r>
              <a:rPr lang="en-US" sz="16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të</a:t>
            </a:r>
            <a:r>
              <a:rPr lang="en-US" sz="16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ndryshme</a:t>
            </a:r>
            <a:r>
              <a:rPr lang="en-US" sz="16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të</a:t>
            </a:r>
            <a:r>
              <a:rPr lang="en-US" sz="16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konektimeve</a:t>
            </a:r>
            <a:r>
              <a:rPr lang="en-US" sz="16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të</a:t>
            </a:r>
            <a:r>
              <a:rPr lang="en-US" sz="16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tilla </a:t>
            </a:r>
            <a:r>
              <a:rPr lang="en-US" sz="16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si</a:t>
            </a:r>
            <a:r>
              <a:rPr lang="en-US" sz="16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: </a:t>
            </a:r>
            <a:r>
              <a:rPr lang="en-US" sz="16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kabllo</a:t>
            </a:r>
            <a:r>
              <a:rPr lang="en-US" sz="16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të</a:t>
            </a:r>
            <a:r>
              <a:rPr lang="en-US" sz="16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bakrit</a:t>
            </a:r>
            <a:r>
              <a:rPr lang="en-US" sz="16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fibra</a:t>
            </a:r>
            <a:r>
              <a:rPr lang="en-US" sz="16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optike</a:t>
            </a:r>
            <a:r>
              <a:rPr lang="en-US" sz="16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ose</a:t>
            </a:r>
            <a:r>
              <a:rPr lang="en-US" sz="16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wireless. Si interface </a:t>
            </a:r>
            <a:r>
              <a:rPr lang="en-US" sz="16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kemi</a:t>
            </a:r>
            <a:r>
              <a:rPr lang="en-US" sz="16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përdorur</a:t>
            </a:r>
            <a:r>
              <a:rPr lang="en-US" sz="16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GigabitEthernet</a:t>
            </a:r>
            <a:r>
              <a:rPr lang="en-US" sz="16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0/0, 0/1, 0/2.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96" name="Google Shape;9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5650" y="1032385"/>
            <a:ext cx="2219340" cy="115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17866" y="1077963"/>
            <a:ext cx="145275" cy="42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55650" y="163613"/>
            <a:ext cx="1032700" cy="120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F0A7C5-34AA-43B5-BAFE-0B0D71F8918E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5942" y="3474579"/>
            <a:ext cx="4555019" cy="1273071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6E4C663-AAA6-4F72-B7F0-B8B03844205D}"/>
              </a:ext>
            </a:extLst>
          </p:cNvPr>
          <p:cNvSpPr txBox="1"/>
          <p:nvPr/>
        </p:nvSpPr>
        <p:spPr>
          <a:xfrm>
            <a:off x="392234" y="4279779"/>
            <a:ext cx="36583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Fig 2.</a:t>
            </a:r>
            <a:r>
              <a:rPr lang="en-US" sz="1400" i="1" dirty="0">
                <a:solidFill>
                  <a:srgbClr val="000000"/>
                </a:solidFill>
                <a:latin typeface="Leelawadee UI" panose="020B0502040204020203" pitchFamily="34" charset="-34"/>
                <a:ea typeface="Calibri" panose="020F0502020204030204" pitchFamily="34" charset="0"/>
                <a:cs typeface="Leelawadee UI" panose="020B0502040204020203" pitchFamily="34" charset="-34"/>
              </a:rPr>
              <a:t>Karakteristikat e </a:t>
            </a:r>
            <a:r>
              <a:rPr lang="en-US" sz="1400" i="1" dirty="0" err="1">
                <a:solidFill>
                  <a:srgbClr val="000000"/>
                </a:solidFill>
                <a:latin typeface="Leelawadee UI" panose="020B0502040204020203" pitchFamily="34" charset="-34"/>
                <a:ea typeface="Calibri" panose="020F0502020204030204" pitchFamily="34" charset="0"/>
                <a:cs typeface="Leelawadee UI" panose="020B0502040204020203" pitchFamily="34" charset="-34"/>
              </a:rPr>
              <a:t>njërit</a:t>
            </a:r>
            <a:r>
              <a:rPr lang="en-US" sz="1400" i="1" dirty="0">
                <a:solidFill>
                  <a:srgbClr val="000000"/>
                </a:solidFill>
                <a:latin typeface="Leelawadee UI" panose="020B0502040204020203" pitchFamily="34" charset="-34"/>
                <a:ea typeface="Calibri" panose="020F0502020204030204" pitchFamily="34" charset="0"/>
                <a:cs typeface="Leelawadee UI" panose="020B0502040204020203" pitchFamily="34" charset="-34"/>
              </a:rPr>
              <a:t> </a:t>
            </a:r>
            <a:r>
              <a:rPr lang="en-US" sz="1400" i="1" dirty="0" err="1">
                <a:solidFill>
                  <a:srgbClr val="000000"/>
                </a:solidFill>
                <a:latin typeface="Leelawadee UI" panose="020B0502040204020203" pitchFamily="34" charset="-34"/>
                <a:ea typeface="Calibri" panose="020F0502020204030204" pitchFamily="34" charset="0"/>
                <a:cs typeface="Leelawadee UI" panose="020B0502040204020203" pitchFamily="34" charset="-34"/>
              </a:rPr>
              <a:t>nga</a:t>
            </a:r>
            <a:r>
              <a:rPr lang="en-US" sz="1400" i="1" dirty="0">
                <a:solidFill>
                  <a:srgbClr val="000000"/>
                </a:solidFill>
                <a:latin typeface="Leelawadee UI" panose="020B0502040204020203" pitchFamily="34" charset="-34"/>
                <a:ea typeface="Calibri" panose="020F0502020204030204" pitchFamily="34" charset="0"/>
                <a:cs typeface="Leelawadee UI" panose="020B0502040204020203" pitchFamily="34" charset="-34"/>
              </a:rPr>
              <a:t> interface-at</a:t>
            </a:r>
            <a:endParaRPr lang="en-US" sz="1400" dirty="0">
              <a:latin typeface="Leelawadee UI" panose="020B0502040204020203" pitchFamily="34" charset="-34"/>
              <a:ea typeface="Calibri" panose="020F0502020204030204" pitchFamily="34" charset="0"/>
              <a:cs typeface="Leelawadee UI" panose="020B0502040204020203" pitchFamily="34" charset="-34"/>
            </a:endParaRPr>
          </a:p>
          <a:p>
            <a:endParaRPr lang="de-CH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104" name="Google Shape;104;p18"/>
          <p:cNvSpPr txBox="1">
            <a:spLocks noGrp="1"/>
          </p:cNvSpPr>
          <p:nvPr>
            <p:ph type="body" idx="4294967295"/>
          </p:nvPr>
        </p:nvSpPr>
        <p:spPr>
          <a:xfrm>
            <a:off x="114716" y="990600"/>
            <a:ext cx="4635796" cy="31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76200" indent="0">
              <a:buSzPts val="2400"/>
              <a:buNone/>
            </a:pPr>
            <a:r>
              <a:rPr lang="en-US" sz="18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Ne </a:t>
            </a:r>
            <a:r>
              <a:rPr lang="en-US" sz="18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lidhjen</a:t>
            </a:r>
            <a:r>
              <a:rPr lang="en-US" sz="18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e router-</a:t>
            </a:r>
            <a:r>
              <a:rPr lang="en-US" sz="18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ëve</a:t>
            </a:r>
            <a:r>
              <a:rPr lang="en-US" sz="18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e </a:t>
            </a:r>
            <a:r>
              <a:rPr lang="en-US" sz="18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kemi</a:t>
            </a:r>
            <a:r>
              <a:rPr lang="en-US" sz="18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bërë</a:t>
            </a:r>
            <a:r>
              <a:rPr lang="en-US" sz="18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me </a:t>
            </a:r>
            <a:r>
              <a:rPr lang="en-US" sz="18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kabllo</a:t>
            </a:r>
            <a:r>
              <a:rPr lang="en-US" sz="18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Serial DCE, </a:t>
            </a:r>
            <a:r>
              <a:rPr lang="en-US" sz="18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ku</a:t>
            </a:r>
            <a:r>
              <a:rPr lang="en-US" sz="18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së</a:t>
            </a:r>
            <a:r>
              <a:rPr lang="en-US" sz="18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pari</a:t>
            </a:r>
            <a:r>
              <a:rPr lang="en-US" sz="18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router-it </a:t>
            </a:r>
            <a:r>
              <a:rPr lang="en-US" sz="18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në</a:t>
            </a:r>
            <a:r>
              <a:rPr lang="en-US" sz="18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pjesën</a:t>
            </a:r>
            <a:r>
              <a:rPr lang="en-US" sz="18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fizike</a:t>
            </a:r>
            <a:r>
              <a:rPr lang="en-US" sz="18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kemi</a:t>
            </a:r>
            <a:r>
              <a:rPr lang="en-US" sz="18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vendosur</a:t>
            </a:r>
            <a:r>
              <a:rPr lang="en-US" sz="18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në</a:t>
            </a:r>
            <a:r>
              <a:rPr lang="en-US" sz="18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tri </a:t>
            </a:r>
            <a:r>
              <a:rPr lang="en-US" sz="18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porte</a:t>
            </a:r>
            <a:r>
              <a:rPr lang="en-US" sz="18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pjesën</a:t>
            </a:r>
            <a:r>
              <a:rPr lang="en-US" sz="18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HWIC-2T, </a:t>
            </a:r>
            <a:r>
              <a:rPr lang="en-US" sz="18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në</a:t>
            </a:r>
            <a:r>
              <a:rPr lang="en-US" sz="18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mënyrë</a:t>
            </a:r>
            <a:r>
              <a:rPr lang="en-US" sz="18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që</a:t>
            </a:r>
            <a:r>
              <a:rPr lang="en-US" sz="18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të</a:t>
            </a:r>
            <a:r>
              <a:rPr lang="en-US" sz="18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krijohen</a:t>
            </a:r>
            <a:r>
              <a:rPr lang="en-US" sz="18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lidhjet</a:t>
            </a:r>
            <a:r>
              <a:rPr lang="en-US" sz="18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Serial </a:t>
            </a:r>
            <a:r>
              <a:rPr lang="en-US" sz="18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të</a:t>
            </a:r>
            <a:r>
              <a:rPr lang="en-US" sz="18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nevojshme</a:t>
            </a:r>
            <a:r>
              <a:rPr lang="en-US" sz="18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për</a:t>
            </a:r>
            <a:r>
              <a:rPr lang="en-US" sz="18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lidhje</a:t>
            </a:r>
            <a:r>
              <a:rPr lang="en-US" sz="18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ndërmjet</a:t>
            </a:r>
            <a:r>
              <a:rPr lang="en-US" sz="18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router-</a:t>
            </a:r>
            <a:r>
              <a:rPr lang="en-US" sz="18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ëve</a:t>
            </a:r>
            <a:r>
              <a:rPr lang="en-US" sz="18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.</a:t>
            </a:r>
            <a:endParaRPr lang="en-US" sz="1800" dirty="0">
              <a:latin typeface="Century Gothic"/>
              <a:ea typeface="Calibri" panose="020F0502020204030204" pitchFamily="34" charset="0"/>
              <a:cs typeface="Calibri"/>
            </a:endParaRPr>
          </a:p>
          <a:p>
            <a:pPr marL="76200" lvl="0" indent="0" algn="l" rtl="0">
              <a:spcBef>
                <a:spcPts val="600"/>
              </a:spcBef>
              <a:spcAft>
                <a:spcPts val="0"/>
              </a:spcAft>
              <a:buSzPts val="2400"/>
              <a:buNone/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A2AC9E-CE8B-448D-B1DB-7027FD5F63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591" y="698797"/>
            <a:ext cx="4155693" cy="405105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F688B31-7C63-4E1E-B6C8-D4D6B08409E1}"/>
              </a:ext>
            </a:extLst>
          </p:cNvPr>
          <p:cNvSpPr txBox="1"/>
          <p:nvPr/>
        </p:nvSpPr>
        <p:spPr>
          <a:xfrm>
            <a:off x="65865" y="4290814"/>
            <a:ext cx="48077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</a:rPr>
              <a:t>Fig 3.Pjesët HWIC-2T </a:t>
            </a:r>
            <a:r>
              <a:rPr lang="en-US" sz="1400" i="1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</a:rPr>
              <a:t>të</a:t>
            </a:r>
            <a:r>
              <a:rPr lang="en-US" sz="1400" i="1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</a:rPr>
              <a:t> </a:t>
            </a:r>
            <a:r>
              <a:rPr lang="en-US" sz="1400" i="1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</a:rPr>
              <a:t>vendosura</a:t>
            </a:r>
            <a:r>
              <a:rPr lang="en-US" sz="1400" i="1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</a:rPr>
              <a:t> ne </a:t>
            </a:r>
            <a:r>
              <a:rPr lang="en-US" sz="1400" i="1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</a:rPr>
              <a:t>portin</a:t>
            </a:r>
            <a:r>
              <a:rPr lang="en-US" sz="1400" i="1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</a:rPr>
              <a:t> e router-it</a:t>
            </a:r>
            <a:endParaRPr lang="de-CH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111" name="Google Shape;111;p19"/>
          <p:cNvSpPr txBox="1">
            <a:spLocks noGrp="1"/>
          </p:cNvSpPr>
          <p:nvPr>
            <p:ph type="ctrTitle" idx="4294967295"/>
          </p:nvPr>
        </p:nvSpPr>
        <p:spPr>
          <a:xfrm>
            <a:off x="95183" y="519963"/>
            <a:ext cx="5864363" cy="421194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KONFIGURIMI I SWITCH-IT</a:t>
            </a:r>
            <a:endParaRPr sz="2400" dirty="0"/>
          </a:p>
        </p:txBody>
      </p:sp>
      <p:sp>
        <p:nvSpPr>
          <p:cNvPr id="112" name="Google Shape;112;p19"/>
          <p:cNvSpPr txBox="1">
            <a:spLocks noGrp="1"/>
          </p:cNvSpPr>
          <p:nvPr>
            <p:ph type="subTitle" idx="4294967295"/>
          </p:nvPr>
        </p:nvSpPr>
        <p:spPr>
          <a:xfrm>
            <a:off x="138562" y="1306608"/>
            <a:ext cx="3332163" cy="2421664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Switch-</a:t>
            </a:r>
            <a:r>
              <a:rPr lang="en-US" sz="14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është</a:t>
            </a:r>
            <a:r>
              <a:rPr lang="en-US" sz="14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një</a:t>
            </a:r>
            <a:r>
              <a:rPr lang="en-US" sz="14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pajisje</a:t>
            </a:r>
            <a:r>
              <a:rPr lang="en-US" sz="14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hardverike</a:t>
            </a:r>
            <a:r>
              <a:rPr lang="en-US" sz="14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e </a:t>
            </a:r>
            <a:r>
              <a:rPr lang="en-US" sz="14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rrjetës</a:t>
            </a:r>
            <a:r>
              <a:rPr lang="en-US" sz="14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që</a:t>
            </a:r>
            <a:r>
              <a:rPr lang="en-US" sz="14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lidh</a:t>
            </a:r>
            <a:r>
              <a:rPr lang="en-US" sz="14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elementet</a:t>
            </a:r>
            <a:r>
              <a:rPr lang="en-US" sz="14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e </a:t>
            </a:r>
            <a:r>
              <a:rPr lang="en-US" sz="14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tjera</a:t>
            </a:r>
            <a:r>
              <a:rPr lang="en-US" sz="14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në</a:t>
            </a:r>
            <a:r>
              <a:rPr lang="en-US" sz="14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rrjet</a:t>
            </a:r>
            <a:r>
              <a:rPr lang="en-US" sz="14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duke </a:t>
            </a:r>
            <a:r>
              <a:rPr lang="en-US" sz="14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përdorur</a:t>
            </a:r>
            <a:r>
              <a:rPr lang="en-US" sz="14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packet switching </a:t>
            </a:r>
            <a:r>
              <a:rPr lang="en-US" sz="14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për</a:t>
            </a:r>
            <a:r>
              <a:rPr lang="en-US" sz="14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pranim</a:t>
            </a:r>
            <a:r>
              <a:rPr lang="en-US" sz="14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dhe</a:t>
            </a:r>
            <a:r>
              <a:rPr lang="en-US" sz="14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dërgim</a:t>
            </a:r>
            <a:r>
              <a:rPr lang="en-US" sz="14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të</a:t>
            </a:r>
            <a:r>
              <a:rPr lang="en-US" sz="14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të</a:t>
            </a:r>
            <a:r>
              <a:rPr lang="en-US" sz="14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dhënave</a:t>
            </a:r>
            <a:r>
              <a:rPr lang="en-US" sz="14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nga</a:t>
            </a:r>
            <a:r>
              <a:rPr lang="en-US" sz="14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burimi</a:t>
            </a:r>
            <a:r>
              <a:rPr lang="en-US" sz="14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në</a:t>
            </a:r>
            <a:r>
              <a:rPr lang="en-US" sz="14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destinacion</a:t>
            </a:r>
            <a:r>
              <a:rPr lang="en-US" sz="1400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. </a:t>
            </a:r>
            <a:endParaRPr lang="en-US" sz="2400" dirty="0"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800" dirty="0"/>
          </a:p>
        </p:txBody>
      </p:sp>
      <p:pic>
        <p:nvPicPr>
          <p:cNvPr id="119" name="Google Shape;11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2477" y="893932"/>
            <a:ext cx="848475" cy="5552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0" name="Google Shape;120;p19"/>
          <p:cNvCxnSpPr/>
          <p:nvPr/>
        </p:nvCxnSpPr>
        <p:spPr>
          <a:xfrm>
            <a:off x="6958825" y="3257288"/>
            <a:ext cx="664200" cy="383400"/>
          </a:xfrm>
          <a:prstGeom prst="straightConnector1">
            <a:avLst/>
          </a:prstGeom>
          <a:noFill/>
          <a:ln w="19050" cap="rnd" cmpd="sng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21" name="Google Shape;121;p19"/>
          <p:cNvCxnSpPr/>
          <p:nvPr/>
        </p:nvCxnSpPr>
        <p:spPr>
          <a:xfrm>
            <a:off x="4910575" y="2035238"/>
            <a:ext cx="559800" cy="323100"/>
          </a:xfrm>
          <a:prstGeom prst="straightConnector1">
            <a:avLst/>
          </a:prstGeom>
          <a:noFill/>
          <a:ln w="19050" cap="rnd" cmpd="sng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22" name="Google Shape;12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31356" y="584223"/>
            <a:ext cx="190716" cy="5552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3" name="Google Shape;123;p19"/>
          <p:cNvCxnSpPr/>
          <p:nvPr/>
        </p:nvCxnSpPr>
        <p:spPr>
          <a:xfrm flipH="1">
            <a:off x="4637575" y="3181088"/>
            <a:ext cx="936600" cy="540900"/>
          </a:xfrm>
          <a:prstGeom prst="straightConnector1">
            <a:avLst/>
          </a:prstGeom>
          <a:noFill/>
          <a:ln w="19050" cap="rnd" cmpd="sng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24" name="Google Shape;124;p19"/>
          <p:cNvCxnSpPr/>
          <p:nvPr/>
        </p:nvCxnSpPr>
        <p:spPr>
          <a:xfrm flipH="1">
            <a:off x="6910225" y="2111438"/>
            <a:ext cx="559800" cy="323100"/>
          </a:xfrm>
          <a:prstGeom prst="straightConnector1">
            <a:avLst/>
          </a:prstGeom>
          <a:noFill/>
          <a:ln w="19050" cap="rnd" cmpd="sng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683284AD-2042-49E4-B98F-F95D4D8E22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8509" y="1490942"/>
            <a:ext cx="5042075" cy="281693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82C3279-7006-4E7C-8FCC-93EACF053D6E}"/>
              </a:ext>
            </a:extLst>
          </p:cNvPr>
          <p:cNvSpPr txBox="1"/>
          <p:nvPr/>
        </p:nvSpPr>
        <p:spPr>
          <a:xfrm>
            <a:off x="2290379" y="4084063"/>
            <a:ext cx="46198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Fig 4.Switch-i </a:t>
            </a:r>
            <a:endParaRPr lang="de-CH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418D06-160D-4E03-AD8C-3801709EDA47}"/>
              </a:ext>
            </a:extLst>
          </p:cNvPr>
          <p:cNvSpPr txBox="1"/>
          <p:nvPr/>
        </p:nvSpPr>
        <p:spPr>
          <a:xfrm>
            <a:off x="329610" y="951078"/>
            <a:ext cx="2955850" cy="3404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VLAN ka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karakteristika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të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njejta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me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ato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të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LAN,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vetëm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se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këtu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ne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mund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të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grupojmë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hoste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edhe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nëse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ato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gjenden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në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LAN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segmente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të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ndryshme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.</a:t>
            </a:r>
            <a:endParaRPr lang="en-US" dirty="0">
              <a:latin typeface="Century Gothic"/>
              <a:ea typeface="Calibri" panose="020F0502020204030204" pitchFamily="34" charset="0"/>
              <a:cs typeface="Calibri"/>
            </a:endParaRP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Në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switch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kemi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krijuar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dy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VLAN: VLAN 10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dhe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VLAN 20,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ku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interface-at fa0/1-5 u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shoqërohen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VLAN 10,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kurse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interface-at fa0/21-22 u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shoqërohen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VLAN 20. Po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ashtu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kemi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bërë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emërimin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e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tyre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në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latin typeface="Century Gothic"/>
                <a:ea typeface="Calibri" panose="020F0502020204030204" pitchFamily="34" charset="0"/>
                <a:cs typeface="Calibri"/>
              </a:rPr>
              <a:t>TripleA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pc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për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VLAN 10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dhe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IT per VLAN 20. </a:t>
            </a:r>
            <a:endParaRPr lang="en-US" dirty="0">
              <a:latin typeface="Century Gothic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id="{4BA218C8-5F55-4ED4-8956-76903E4F5654}"/>
              </a:ext>
            </a:extLst>
          </p:cNvPr>
          <p:cNvPicPr>
            <a:picLocks noGr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8940" y="1096964"/>
            <a:ext cx="5037138" cy="202088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7A1AF02-82BB-470C-811B-3FFE8AB7489D}"/>
              </a:ext>
            </a:extLst>
          </p:cNvPr>
          <p:cNvSpPr txBox="1"/>
          <p:nvPr/>
        </p:nvSpPr>
        <p:spPr>
          <a:xfrm>
            <a:off x="3657600" y="3472185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Fig 5.Konfigurimi </a:t>
            </a:r>
            <a:r>
              <a:rPr lang="en-US" sz="1400" i="1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i</a:t>
            </a:r>
            <a:r>
              <a:rPr lang="en-US" sz="1400" i="1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switch-it</a:t>
            </a:r>
            <a:endParaRPr lang="en-US" sz="1400" dirty="0">
              <a:latin typeface="Century Gothic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143" name="Google Shape;143;p21"/>
          <p:cNvSpPr txBox="1">
            <a:spLocks noGrp="1"/>
          </p:cNvSpPr>
          <p:nvPr>
            <p:ph type="body" idx="4294967295"/>
          </p:nvPr>
        </p:nvSpPr>
        <p:spPr>
          <a:xfrm>
            <a:off x="297710" y="864430"/>
            <a:ext cx="3519378" cy="3201988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</a:rPr>
              <a:t>Ashtu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</a:rPr>
              <a:t> sic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</a:rPr>
              <a:t>është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</a:rPr>
              <a:t>kërkuar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</a:rPr>
              <a:t>në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</a:rPr>
              <a:t>detyrë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</a:rPr>
              <a:t>në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</a:rPr>
              <a:t>secilën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</a:rPr>
              <a:t>degë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</a:rPr>
              <a:t>është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</a:rPr>
              <a:t>vedosur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</a:rPr>
              <a:t>dhe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</a:rPr>
              <a:t>konfiguruar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</a:rPr>
              <a:t>një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</a:rPr>
              <a:t> printer,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</a:rPr>
              <a:t>që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</a:rPr>
              <a:t>lidhet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</a:rPr>
              <a:t> me switch.</a:t>
            </a:r>
            <a:endParaRPr lang="en-US" dirty="0">
              <a:latin typeface="Century Gothic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C90CD6-812D-42CE-A686-409EF2794D90}"/>
              </a:ext>
            </a:extLst>
          </p:cNvPr>
          <p:cNvSpPr txBox="1"/>
          <p:nvPr/>
        </p:nvSpPr>
        <p:spPr>
          <a:xfrm>
            <a:off x="637953" y="39368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KONFIGURIMI I PRINTERIT</a:t>
            </a:r>
            <a:endParaRPr lang="de-CH" sz="1800" dirty="0"/>
          </a:p>
        </p:txBody>
      </p:sp>
      <p:pic>
        <p:nvPicPr>
          <p:cNvPr id="11" name="Content Placeholder 4">
            <a:extLst>
              <a:ext uri="{FF2B5EF4-FFF2-40B4-BE49-F238E27FC236}">
                <a16:creationId xmlns:a16="http://schemas.microsoft.com/office/drawing/2014/main" id="{D32522AB-302E-491A-9B16-894755145A08}"/>
              </a:ext>
            </a:extLst>
          </p:cNvPr>
          <p:cNvPicPr>
            <a:picLocks noGr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0577" y="864430"/>
            <a:ext cx="4450007" cy="3473564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C270115-B9B2-4CB6-9B45-5403AC6711C9}"/>
              </a:ext>
            </a:extLst>
          </p:cNvPr>
          <p:cNvSpPr txBox="1"/>
          <p:nvPr/>
        </p:nvSpPr>
        <p:spPr>
          <a:xfrm>
            <a:off x="0" y="4066418"/>
            <a:ext cx="4572000" cy="305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400" i="1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Fig 6.Konfigurimi </a:t>
            </a:r>
            <a:r>
              <a:rPr lang="en-US" sz="1400" i="1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i</a:t>
            </a:r>
            <a:r>
              <a:rPr lang="en-US" sz="1400" i="1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sz="1400" i="1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Printerit</a:t>
            </a:r>
            <a:r>
              <a:rPr lang="en-US" sz="1400" i="1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sz="1400" i="1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të</a:t>
            </a:r>
            <a:r>
              <a:rPr lang="en-US" sz="1400" i="1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sz="1400" i="1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degës</a:t>
            </a:r>
            <a:r>
              <a:rPr lang="en-US" sz="1400" i="1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sz="1400" i="1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kryesore</a:t>
            </a:r>
            <a:endParaRPr lang="en-US" sz="1400" dirty="0">
              <a:latin typeface="Century Gothic"/>
              <a:ea typeface="Calibri" panose="020F0502020204030204" pitchFamily="34" charset="0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2DBF92-3DD1-47AC-9248-D8A77F9FB15B}"/>
              </a:ext>
            </a:extLst>
          </p:cNvPr>
          <p:cNvSpPr txBox="1"/>
          <p:nvPr/>
        </p:nvSpPr>
        <p:spPr>
          <a:xfrm>
            <a:off x="1871330" y="266098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IP ADRESIMI</a:t>
            </a:r>
            <a:endParaRPr lang="de-CH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5D88F7-FEC4-42FC-8F33-1D0AFFFA6CE8}"/>
              </a:ext>
            </a:extLst>
          </p:cNvPr>
          <p:cNvSpPr txBox="1"/>
          <p:nvPr/>
        </p:nvSpPr>
        <p:spPr>
          <a:xfrm>
            <a:off x="244548" y="782494"/>
            <a:ext cx="8370065" cy="1227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Gjatë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dizajnimit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të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rrjetës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sonë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jemi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munduar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t’i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përfshijmë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disa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nga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IP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adresat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private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të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klasës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A, B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dhe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C.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Në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degën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kryesore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kemi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përdorur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IP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adresat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e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klasës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C me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subnetim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jo standard (/25),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në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degën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fqinje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(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TripleA-Dega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Ferizaj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),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poashtu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kemi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përdorur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këtë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subnetim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Degët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e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tjera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kanë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të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gjitha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subnetim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jostandard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(/27), me IP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adresa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private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të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klasës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C.Po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ashtu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është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përdorur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IP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adresimi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statik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dhe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dinamik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, ai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dinamik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kryesisht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në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laptop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dhe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printer.</a:t>
            </a:r>
            <a:endParaRPr lang="en-US" dirty="0">
              <a:latin typeface="Century Gothic"/>
              <a:ea typeface="Calibri" panose="020F0502020204030204" pitchFamily="34" charset="0"/>
              <a:cs typeface="Calibri"/>
            </a:endParaRPr>
          </a:p>
        </p:txBody>
      </p:sp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id="{29D17087-18D7-4375-8E0E-DFFD9D06DB44}"/>
              </a:ext>
            </a:extLst>
          </p:cNvPr>
          <p:cNvPicPr>
            <a:picLocks noGr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1944" y="2009625"/>
            <a:ext cx="5842990" cy="281799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C42E772-2127-4E26-93C4-E63CDC8985CB}"/>
              </a:ext>
            </a:extLst>
          </p:cNvPr>
          <p:cNvSpPr txBox="1"/>
          <p:nvPr/>
        </p:nvSpPr>
        <p:spPr>
          <a:xfrm>
            <a:off x="114716" y="479276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Fig 7.Konfigurimi </a:t>
            </a:r>
            <a:r>
              <a:rPr lang="en-US" sz="1400" i="1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i</a:t>
            </a:r>
            <a:r>
              <a:rPr lang="en-US" sz="1400" i="1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DNS </a:t>
            </a:r>
            <a:r>
              <a:rPr lang="en-US" sz="1400" i="1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dhe</a:t>
            </a:r>
            <a:r>
              <a:rPr lang="en-US" sz="1400" i="1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WEB </a:t>
            </a:r>
            <a:r>
              <a:rPr lang="en-US" sz="1400" i="1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Serverave</a:t>
            </a:r>
            <a:endParaRPr lang="en-US" sz="1400" dirty="0">
              <a:latin typeface="Century Gothic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 txBox="1">
            <a:spLocks noGrp="1"/>
          </p:cNvSpPr>
          <p:nvPr>
            <p:ph type="title"/>
          </p:nvPr>
        </p:nvSpPr>
        <p:spPr>
          <a:xfrm>
            <a:off x="533400" y="533400"/>
            <a:ext cx="3020100" cy="138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.</a:t>
            </a:r>
            <a:endParaRPr sz="2400" dirty="0"/>
          </a:p>
        </p:txBody>
      </p:sp>
      <p:sp>
        <p:nvSpPr>
          <p:cNvPr id="159" name="Google Shape;159;p23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466C25-A6E4-4241-A6F0-3F0357BE63EF}"/>
              </a:ext>
            </a:extLst>
          </p:cNvPr>
          <p:cNvSpPr txBox="1"/>
          <p:nvPr/>
        </p:nvSpPr>
        <p:spPr>
          <a:xfrm>
            <a:off x="627321" y="379511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KONFIGURIMI I WIRELESS</a:t>
            </a:r>
            <a:endParaRPr lang="de-CH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131F31-44F4-43A3-A4CE-F309DAB877A4}"/>
              </a:ext>
            </a:extLst>
          </p:cNvPr>
          <p:cNvSpPr txBox="1"/>
          <p:nvPr/>
        </p:nvSpPr>
        <p:spPr>
          <a:xfrm>
            <a:off x="276447" y="1069323"/>
            <a:ext cx="3179134" cy="2379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Si </a:t>
            </a:r>
            <a:r>
              <a:rPr lang="en-US" dirty="0" err="1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pajisje</a:t>
            </a:r>
            <a:r>
              <a:rPr lang="en-US" dirty="0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 wireless </a:t>
            </a:r>
            <a:r>
              <a:rPr lang="en-US" dirty="0" err="1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janë</a:t>
            </a:r>
            <a:r>
              <a:rPr lang="en-US" dirty="0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përdorur</a:t>
            </a:r>
            <a:r>
              <a:rPr lang="en-US" dirty="0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 router-</a:t>
            </a:r>
            <a:r>
              <a:rPr lang="en-US" dirty="0" err="1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ët</a:t>
            </a:r>
            <a:r>
              <a:rPr lang="en-US" dirty="0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 e </a:t>
            </a:r>
            <a:r>
              <a:rPr lang="en-US" dirty="0" err="1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tipit</a:t>
            </a:r>
            <a:r>
              <a:rPr lang="en-US" dirty="0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 WRT300N, </a:t>
            </a:r>
            <a:r>
              <a:rPr lang="en-US" dirty="0" err="1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ku</a:t>
            </a:r>
            <a:r>
              <a:rPr lang="en-US" dirty="0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në</a:t>
            </a:r>
            <a:r>
              <a:rPr lang="en-US" dirty="0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secilën</a:t>
            </a:r>
            <a:r>
              <a:rPr lang="en-US" dirty="0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degë</a:t>
            </a:r>
            <a:r>
              <a:rPr lang="en-US" dirty="0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gjendet</a:t>
            </a:r>
            <a:r>
              <a:rPr lang="en-US" dirty="0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një</a:t>
            </a:r>
            <a:r>
              <a:rPr lang="en-US" dirty="0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i</a:t>
            </a:r>
            <a:r>
              <a:rPr lang="en-US" dirty="0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tillë</a:t>
            </a:r>
            <a:r>
              <a:rPr lang="en-US" dirty="0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për</a:t>
            </a:r>
            <a:r>
              <a:rPr lang="en-US" dirty="0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të</a:t>
            </a:r>
            <a:r>
              <a:rPr lang="en-US" dirty="0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cilin</a:t>
            </a:r>
            <a:r>
              <a:rPr lang="en-US" dirty="0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janë</a:t>
            </a:r>
            <a:r>
              <a:rPr lang="en-US" dirty="0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të</a:t>
            </a:r>
            <a:r>
              <a:rPr lang="en-US" dirty="0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lidhur</a:t>
            </a:r>
            <a:r>
              <a:rPr lang="en-US" dirty="0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llaptop</a:t>
            </a:r>
            <a:r>
              <a:rPr lang="en-US" dirty="0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ose</a:t>
            </a:r>
            <a:r>
              <a:rPr lang="en-US" dirty="0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 smartphone. </a:t>
            </a:r>
            <a:r>
              <a:rPr lang="en-US" dirty="0" err="1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Që</a:t>
            </a:r>
            <a:r>
              <a:rPr lang="en-US" dirty="0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llaptopët</a:t>
            </a:r>
            <a:r>
              <a:rPr lang="en-US" dirty="0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të</a:t>
            </a:r>
            <a:r>
              <a:rPr lang="en-US" dirty="0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lidhen</a:t>
            </a:r>
            <a:r>
              <a:rPr lang="en-US" dirty="0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 me wireless </a:t>
            </a:r>
            <a:r>
              <a:rPr lang="en-US" dirty="0" err="1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atëherë</a:t>
            </a:r>
            <a:r>
              <a:rPr lang="en-US" dirty="0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atyre</a:t>
            </a:r>
            <a:r>
              <a:rPr lang="en-US" dirty="0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në</a:t>
            </a:r>
            <a:r>
              <a:rPr lang="en-US" dirty="0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pjesën</a:t>
            </a:r>
            <a:r>
              <a:rPr lang="en-US" dirty="0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fizike</a:t>
            </a:r>
            <a:r>
              <a:rPr lang="en-US" dirty="0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duhet</a:t>
            </a:r>
            <a:r>
              <a:rPr lang="en-US" dirty="0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t’i</a:t>
            </a:r>
            <a:r>
              <a:rPr lang="en-US" dirty="0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ndërrohet</a:t>
            </a:r>
            <a:r>
              <a:rPr lang="en-US" dirty="0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pjesa</a:t>
            </a:r>
            <a:r>
              <a:rPr lang="en-US" dirty="0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aktuale</a:t>
            </a:r>
            <a:r>
              <a:rPr lang="en-US" dirty="0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 me </a:t>
            </a:r>
            <a:r>
              <a:rPr lang="en-US" dirty="0" err="1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atë</a:t>
            </a:r>
            <a:r>
              <a:rPr lang="en-US" dirty="0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të</a:t>
            </a:r>
            <a:r>
              <a:rPr lang="en-US" dirty="0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 router-it </a:t>
            </a:r>
            <a:r>
              <a:rPr lang="en-US" dirty="0" err="1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përkatës</a:t>
            </a:r>
            <a:r>
              <a:rPr lang="en-US" dirty="0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: WRT300N, </a:t>
            </a:r>
            <a:r>
              <a:rPr lang="en-US" dirty="0" err="1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në</a:t>
            </a:r>
            <a:r>
              <a:rPr lang="en-US" dirty="0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mënyrë</a:t>
            </a:r>
            <a:r>
              <a:rPr lang="en-US" dirty="0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që</a:t>
            </a:r>
            <a:r>
              <a:rPr lang="en-US" dirty="0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të</a:t>
            </a:r>
            <a:r>
              <a:rPr lang="en-US" dirty="0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lidhen</a:t>
            </a:r>
            <a:r>
              <a:rPr lang="en-US" dirty="0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këto</a:t>
            </a:r>
            <a:r>
              <a:rPr lang="en-US" dirty="0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pajisje</a:t>
            </a:r>
            <a:r>
              <a:rPr lang="en-US" dirty="0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.</a:t>
            </a:r>
            <a:endParaRPr lang="en-US" sz="1800" dirty="0">
              <a:solidFill>
                <a:schemeClr val="bg1"/>
              </a:solidFill>
              <a:latin typeface="Century Gothic"/>
              <a:ea typeface="Calibri" panose="020F0502020204030204" pitchFamily="34" charset="0"/>
              <a:cs typeface="Calibri"/>
            </a:endParaRPr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84929074-FDC8-4D54-9F93-248FC5F3DAD1}"/>
              </a:ext>
            </a:extLst>
          </p:cNvPr>
          <p:cNvPicPr>
            <a:picLocks noGr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0118" y="818474"/>
            <a:ext cx="5317435" cy="3725465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573AB47-1DF1-4555-98DE-54D6BDB778C7}"/>
              </a:ext>
            </a:extLst>
          </p:cNvPr>
          <p:cNvSpPr txBox="1"/>
          <p:nvPr/>
        </p:nvSpPr>
        <p:spPr>
          <a:xfrm>
            <a:off x="2998381" y="4675125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i="1" dirty="0" err="1">
                <a:solidFill>
                  <a:schemeClr val="bg1"/>
                </a:solidFill>
                <a:latin typeface="Century Gothic"/>
                <a:cs typeface="Calibri"/>
              </a:rPr>
              <a:t>Konfigurimi</a:t>
            </a:r>
            <a:r>
              <a:rPr lang="en-US" sz="1400" i="1" dirty="0">
                <a:solidFill>
                  <a:schemeClr val="bg1"/>
                </a:solidFill>
                <a:latin typeface="Century Gothic"/>
                <a:cs typeface="Calibri"/>
              </a:rPr>
              <a:t> </a:t>
            </a:r>
            <a:r>
              <a:rPr lang="en-US" sz="1400" i="1" dirty="0" err="1">
                <a:solidFill>
                  <a:schemeClr val="bg1"/>
                </a:solidFill>
                <a:latin typeface="Century Gothic"/>
                <a:cs typeface="Calibri"/>
              </a:rPr>
              <a:t>i</a:t>
            </a:r>
            <a:r>
              <a:rPr lang="en-US" sz="1400" i="1" dirty="0">
                <a:solidFill>
                  <a:schemeClr val="bg1"/>
                </a:solidFill>
                <a:latin typeface="Century Gothic"/>
                <a:cs typeface="Calibri"/>
              </a:rPr>
              <a:t> Wireless router-it </a:t>
            </a:r>
            <a:r>
              <a:rPr lang="en-US" sz="1400" i="1" dirty="0" err="1">
                <a:solidFill>
                  <a:schemeClr val="bg1"/>
                </a:solidFill>
                <a:latin typeface="Century Gothic"/>
                <a:cs typeface="Calibri"/>
              </a:rPr>
              <a:t>të</a:t>
            </a:r>
            <a:r>
              <a:rPr lang="en-US" sz="1400" i="1" dirty="0">
                <a:solidFill>
                  <a:schemeClr val="bg1"/>
                </a:solidFill>
                <a:latin typeface="Century Gothic"/>
                <a:cs typeface="Calibri"/>
              </a:rPr>
              <a:t> </a:t>
            </a:r>
            <a:r>
              <a:rPr lang="en-US" sz="1400" i="1" dirty="0" err="1">
                <a:solidFill>
                  <a:schemeClr val="bg1"/>
                </a:solidFill>
                <a:latin typeface="Century Gothic"/>
                <a:cs typeface="Calibri"/>
              </a:rPr>
              <a:t>degës</a:t>
            </a:r>
            <a:r>
              <a:rPr lang="en-US" sz="1400" i="1" dirty="0">
                <a:solidFill>
                  <a:schemeClr val="bg1"/>
                </a:solidFill>
                <a:latin typeface="Century Gothic"/>
                <a:cs typeface="Calibri"/>
              </a:rPr>
              <a:t> </a:t>
            </a:r>
            <a:r>
              <a:rPr lang="en-US" sz="1400" i="1" dirty="0" err="1">
                <a:solidFill>
                  <a:schemeClr val="bg1"/>
                </a:solidFill>
                <a:latin typeface="Century Gothic"/>
                <a:cs typeface="Calibri"/>
              </a:rPr>
              <a:t>kryesore</a:t>
            </a:r>
            <a:endParaRPr lang="en-US" sz="1400" dirty="0">
              <a:solidFill>
                <a:schemeClr val="bg1"/>
              </a:solidFill>
              <a:latin typeface="Century Gothic"/>
              <a:ea typeface="+mn-lt"/>
              <a:cs typeface="+mn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4"/>
          <p:cNvSpPr txBox="1">
            <a:spLocks noGrp="1"/>
          </p:cNvSpPr>
          <p:nvPr>
            <p:ph type="body" idx="1"/>
          </p:nvPr>
        </p:nvSpPr>
        <p:spPr>
          <a:xfrm>
            <a:off x="569918" y="355295"/>
            <a:ext cx="1216352" cy="1069468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dirty="0" err="1">
                <a:solidFill>
                  <a:schemeClr val="tx1"/>
                </a:solidFill>
                <a:latin typeface="Century Gothic"/>
                <a:ea typeface="Calibri" panose="020F0502020204030204" pitchFamily="34" charset="0"/>
                <a:cs typeface="Times New Roman"/>
              </a:rPr>
              <a:t>Secili</a:t>
            </a:r>
            <a:r>
              <a:rPr lang="en-US" dirty="0">
                <a:solidFill>
                  <a:schemeClr val="tx1"/>
                </a:solidFill>
                <a:latin typeface="Century Gothic"/>
                <a:ea typeface="Calibri" panose="020F0502020204030204" pitchFamily="34" charset="0"/>
                <a:cs typeface="Times New Roman"/>
              </a:rPr>
              <a:t> Wi-Fi router e ka </a:t>
            </a:r>
            <a:r>
              <a:rPr lang="en-US" dirty="0" err="1">
                <a:solidFill>
                  <a:schemeClr val="tx1"/>
                </a:solidFill>
                <a:latin typeface="Century Gothic"/>
                <a:ea typeface="Calibri" panose="020F0502020204030204" pitchFamily="34" charset="0"/>
                <a:cs typeface="Times New Roman"/>
              </a:rPr>
              <a:t>një</a:t>
            </a:r>
            <a:r>
              <a:rPr lang="en-US" dirty="0">
                <a:solidFill>
                  <a:schemeClr val="tx1"/>
                </a:solidFill>
                <a:latin typeface="Century Gothic"/>
                <a:ea typeface="Calibri" panose="020F0502020204030204" pitchFamily="34" charset="0"/>
                <a:cs typeface="Times New Roman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entury Gothic"/>
                <a:ea typeface="Calibri" panose="020F0502020204030204" pitchFamily="34" charset="0"/>
                <a:cs typeface="Times New Roman"/>
              </a:rPr>
              <a:t>emër</a:t>
            </a:r>
            <a:r>
              <a:rPr lang="en-US" dirty="0">
                <a:solidFill>
                  <a:schemeClr val="tx1"/>
                </a:solidFill>
                <a:latin typeface="Century Gothic"/>
                <a:ea typeface="Calibri" panose="020F0502020204030204" pitchFamily="34" charset="0"/>
                <a:cs typeface="Times New Roman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entury Gothic"/>
                <a:ea typeface="Calibri" panose="020F0502020204030204" pitchFamily="34" charset="0"/>
                <a:cs typeface="Times New Roman"/>
              </a:rPr>
              <a:t>dhe</a:t>
            </a:r>
            <a:r>
              <a:rPr lang="en-US" dirty="0">
                <a:solidFill>
                  <a:schemeClr val="tx1"/>
                </a:solidFill>
                <a:latin typeface="Century Gothic"/>
                <a:ea typeface="Calibri" panose="020F0502020204030204" pitchFamily="34" charset="0"/>
                <a:cs typeface="Times New Roman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entury Gothic"/>
                <a:ea typeface="Calibri" panose="020F0502020204030204" pitchFamily="34" charset="0"/>
                <a:cs typeface="Times New Roman"/>
              </a:rPr>
              <a:t>fjalëkalim</a:t>
            </a:r>
            <a:r>
              <a:rPr lang="en-US" dirty="0">
                <a:solidFill>
                  <a:schemeClr val="tx1"/>
                </a:solidFill>
                <a:latin typeface="Century Gothic"/>
                <a:ea typeface="Calibri" panose="020F0502020204030204" pitchFamily="34" charset="0"/>
                <a:cs typeface="Times New Roman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entury Gothic"/>
                <a:ea typeface="Calibri" panose="020F0502020204030204" pitchFamily="34" charset="0"/>
                <a:cs typeface="Times New Roman"/>
              </a:rPr>
              <a:t>unik</a:t>
            </a:r>
            <a:r>
              <a:rPr lang="en-US" dirty="0">
                <a:solidFill>
                  <a:schemeClr val="tx1"/>
                </a:solidFill>
                <a:latin typeface="Century Gothic"/>
                <a:ea typeface="Calibri" panose="020F0502020204030204" pitchFamily="34" charset="0"/>
                <a:cs typeface="Times New Roman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Century Gothic"/>
                <a:ea typeface="Calibri" panose="020F0502020204030204" pitchFamily="34" charset="0"/>
                <a:cs typeface="Times New Roman"/>
              </a:rPr>
              <a:t>që</a:t>
            </a:r>
            <a:r>
              <a:rPr lang="en-US" dirty="0">
                <a:solidFill>
                  <a:schemeClr val="tx1"/>
                </a:solidFill>
                <a:latin typeface="Century Gothic"/>
                <a:ea typeface="Calibri" panose="020F0502020204030204" pitchFamily="34" charset="0"/>
                <a:cs typeface="Times New Roman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entury Gothic"/>
                <a:ea typeface="Calibri" panose="020F0502020204030204" pitchFamily="34" charset="0"/>
                <a:cs typeface="Times New Roman"/>
              </a:rPr>
              <a:t>i</a:t>
            </a:r>
            <a:r>
              <a:rPr lang="en-US" dirty="0">
                <a:solidFill>
                  <a:schemeClr val="tx1"/>
                </a:solidFill>
                <a:latin typeface="Century Gothic"/>
                <a:ea typeface="Calibri" panose="020F0502020204030204" pitchFamily="34" charset="0"/>
                <a:cs typeface="Times New Roman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entury Gothic"/>
                <a:ea typeface="Calibri" panose="020F0502020204030204" pitchFamily="34" charset="0"/>
                <a:cs typeface="Times New Roman"/>
              </a:rPr>
              <a:t>dallon</a:t>
            </a:r>
            <a:r>
              <a:rPr lang="en-US" dirty="0">
                <a:solidFill>
                  <a:schemeClr val="tx1"/>
                </a:solidFill>
                <a:latin typeface="Century Gothic"/>
                <a:ea typeface="Calibri" panose="020F0502020204030204" pitchFamily="34" charset="0"/>
                <a:cs typeface="Times New Roman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entury Gothic"/>
                <a:ea typeface="Calibri" panose="020F0502020204030204" pitchFamily="34" charset="0"/>
                <a:cs typeface="Times New Roman"/>
              </a:rPr>
              <a:t>nga</a:t>
            </a:r>
            <a:r>
              <a:rPr lang="en-US" dirty="0">
                <a:solidFill>
                  <a:schemeClr val="tx1"/>
                </a:solidFill>
                <a:latin typeface="Century Gothic"/>
                <a:ea typeface="Calibri" panose="020F0502020204030204" pitchFamily="34" charset="0"/>
                <a:cs typeface="Times New Roman"/>
              </a:rPr>
              <a:t> Wi-Fi router-</a:t>
            </a:r>
            <a:r>
              <a:rPr lang="en-US" dirty="0" err="1">
                <a:solidFill>
                  <a:schemeClr val="tx1"/>
                </a:solidFill>
                <a:latin typeface="Century Gothic"/>
                <a:ea typeface="Calibri" panose="020F0502020204030204" pitchFamily="34" charset="0"/>
                <a:cs typeface="Times New Roman"/>
              </a:rPr>
              <a:t>ët</a:t>
            </a:r>
            <a:r>
              <a:rPr lang="en-US" dirty="0">
                <a:solidFill>
                  <a:schemeClr val="tx1"/>
                </a:solidFill>
                <a:latin typeface="Century Gothic"/>
                <a:ea typeface="Calibri" panose="020F0502020204030204" pitchFamily="34" charset="0"/>
                <a:cs typeface="Times New Roman"/>
              </a:rPr>
              <a:t> e </a:t>
            </a:r>
            <a:r>
              <a:rPr lang="en-US" dirty="0" err="1">
                <a:solidFill>
                  <a:schemeClr val="tx1"/>
                </a:solidFill>
                <a:latin typeface="Century Gothic"/>
                <a:ea typeface="Calibri" panose="020F0502020204030204" pitchFamily="34" charset="0"/>
                <a:cs typeface="Times New Roman"/>
              </a:rPr>
              <a:t>tjerë</a:t>
            </a:r>
            <a:r>
              <a:rPr lang="en-US" dirty="0">
                <a:solidFill>
                  <a:schemeClr val="tx1"/>
                </a:solidFill>
                <a:latin typeface="Century Gothic"/>
                <a:ea typeface="Calibri" panose="020F0502020204030204" pitchFamily="34" charset="0"/>
                <a:cs typeface="Times New Roman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Century Gothic"/>
                <a:ea typeface="Calibri" panose="020F0502020204030204" pitchFamily="34" charset="0"/>
                <a:cs typeface="Times New Roman"/>
              </a:rPr>
              <a:t>dhe</a:t>
            </a:r>
            <a:r>
              <a:rPr lang="en-US" dirty="0">
                <a:solidFill>
                  <a:schemeClr val="tx1"/>
                </a:solidFill>
                <a:latin typeface="Century Gothic"/>
                <a:ea typeface="Calibri" panose="020F0502020204030204" pitchFamily="34" charset="0"/>
                <a:cs typeface="Times New Roman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entury Gothic"/>
                <a:ea typeface="Calibri" panose="020F0502020204030204" pitchFamily="34" charset="0"/>
                <a:cs typeface="Times New Roman"/>
              </a:rPr>
              <a:t>kështu</a:t>
            </a:r>
            <a:r>
              <a:rPr lang="en-US" dirty="0">
                <a:solidFill>
                  <a:schemeClr val="tx1"/>
                </a:solidFill>
                <a:latin typeface="Century Gothic"/>
                <a:ea typeface="Calibri" panose="020F0502020204030204" pitchFamily="34" charset="0"/>
                <a:cs typeface="Times New Roman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entury Gothic"/>
                <a:ea typeface="Calibri" panose="020F0502020204030204" pitchFamily="34" charset="0"/>
                <a:cs typeface="Times New Roman"/>
              </a:rPr>
              <a:t>kur</a:t>
            </a:r>
            <a:r>
              <a:rPr lang="en-US" dirty="0">
                <a:solidFill>
                  <a:schemeClr val="tx1"/>
                </a:solidFill>
                <a:latin typeface="Century Gothic"/>
                <a:ea typeface="Calibri" panose="020F0502020204030204" pitchFamily="34" charset="0"/>
                <a:cs typeface="Times New Roman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entury Gothic"/>
                <a:ea typeface="Calibri" panose="020F0502020204030204" pitchFamily="34" charset="0"/>
                <a:cs typeface="Times New Roman"/>
              </a:rPr>
              <a:t>t’i</a:t>
            </a:r>
            <a:r>
              <a:rPr lang="en-US" dirty="0">
                <a:solidFill>
                  <a:schemeClr val="tx1"/>
                </a:solidFill>
                <a:latin typeface="Century Gothic"/>
                <a:ea typeface="Calibri" panose="020F0502020204030204" pitchFamily="34" charset="0"/>
                <a:cs typeface="Times New Roman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entury Gothic"/>
                <a:ea typeface="Calibri" panose="020F0502020204030204" pitchFamily="34" charset="0"/>
                <a:cs typeface="Times New Roman"/>
              </a:rPr>
              <a:t>lidhim</a:t>
            </a:r>
            <a:r>
              <a:rPr lang="en-US" dirty="0">
                <a:solidFill>
                  <a:schemeClr val="tx1"/>
                </a:solidFill>
                <a:latin typeface="Century Gothic"/>
                <a:ea typeface="Calibri" panose="020F0502020204030204" pitchFamily="34" charset="0"/>
                <a:cs typeface="Times New Roman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entury Gothic"/>
                <a:ea typeface="Calibri" panose="020F0502020204030204" pitchFamily="34" charset="0"/>
                <a:cs typeface="Times New Roman"/>
              </a:rPr>
              <a:t>pajisjet</a:t>
            </a:r>
            <a:r>
              <a:rPr lang="en-US" dirty="0">
                <a:solidFill>
                  <a:schemeClr val="tx1"/>
                </a:solidFill>
                <a:latin typeface="Century Gothic"/>
                <a:ea typeface="Calibri" panose="020F0502020204030204" pitchFamily="34" charset="0"/>
                <a:cs typeface="Times New Roman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entury Gothic"/>
                <a:ea typeface="Calibri" panose="020F0502020204030204" pitchFamily="34" charset="0"/>
                <a:cs typeface="Times New Roman"/>
              </a:rPr>
              <a:t>në</a:t>
            </a:r>
            <a:r>
              <a:rPr lang="en-US" dirty="0">
                <a:solidFill>
                  <a:schemeClr val="tx1"/>
                </a:solidFill>
                <a:latin typeface="Century Gothic"/>
                <a:ea typeface="Calibri" panose="020F0502020204030204" pitchFamily="34" charset="0"/>
                <a:cs typeface="Times New Roman"/>
              </a:rPr>
              <a:t> to, </a:t>
            </a:r>
            <a:r>
              <a:rPr lang="en-US" dirty="0" err="1">
                <a:solidFill>
                  <a:schemeClr val="tx1"/>
                </a:solidFill>
                <a:latin typeface="Century Gothic"/>
                <a:ea typeface="Calibri" panose="020F0502020204030204" pitchFamily="34" charset="0"/>
                <a:cs typeface="Times New Roman"/>
              </a:rPr>
              <a:t>të</a:t>
            </a:r>
            <a:r>
              <a:rPr lang="en-US" dirty="0">
                <a:solidFill>
                  <a:schemeClr val="tx1"/>
                </a:solidFill>
                <a:latin typeface="Century Gothic"/>
                <a:ea typeface="Calibri" panose="020F0502020204030204" pitchFamily="34" charset="0"/>
                <a:cs typeface="Times New Roman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entury Gothic"/>
                <a:ea typeface="Calibri" panose="020F0502020204030204" pitchFamily="34" charset="0"/>
                <a:cs typeface="Times New Roman"/>
              </a:rPr>
              <a:t>dinë</a:t>
            </a:r>
            <a:r>
              <a:rPr lang="en-US" dirty="0">
                <a:solidFill>
                  <a:schemeClr val="tx1"/>
                </a:solidFill>
                <a:latin typeface="Century Gothic"/>
                <a:ea typeface="Calibri" panose="020F0502020204030204" pitchFamily="34" charset="0"/>
                <a:cs typeface="Times New Roman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entury Gothic"/>
                <a:ea typeface="Calibri" panose="020F0502020204030204" pitchFamily="34" charset="0"/>
                <a:cs typeface="Times New Roman"/>
              </a:rPr>
              <a:t>në</a:t>
            </a:r>
            <a:r>
              <a:rPr lang="en-US" dirty="0">
                <a:solidFill>
                  <a:schemeClr val="tx1"/>
                </a:solidFill>
                <a:latin typeface="Century Gothic"/>
                <a:ea typeface="Calibri" panose="020F0502020204030204" pitchFamily="34" charset="0"/>
                <a:cs typeface="Times New Roman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entury Gothic"/>
                <a:ea typeface="Calibri" panose="020F0502020204030204" pitchFamily="34" charset="0"/>
                <a:cs typeface="Times New Roman"/>
              </a:rPr>
              <a:t>bazë</a:t>
            </a:r>
            <a:r>
              <a:rPr lang="en-US" dirty="0">
                <a:solidFill>
                  <a:schemeClr val="tx1"/>
                </a:solidFill>
                <a:latin typeface="Century Gothic"/>
                <a:ea typeface="Calibri" panose="020F0502020204030204" pitchFamily="34" charset="0"/>
                <a:cs typeface="Times New Roman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entury Gothic"/>
                <a:ea typeface="Calibri" panose="020F0502020204030204" pitchFamily="34" charset="0"/>
                <a:cs typeface="Times New Roman"/>
              </a:rPr>
              <a:t>të</a:t>
            </a:r>
            <a:r>
              <a:rPr lang="en-US" dirty="0">
                <a:solidFill>
                  <a:schemeClr val="tx1"/>
                </a:solidFill>
                <a:latin typeface="Century Gothic"/>
                <a:ea typeface="Calibri" panose="020F0502020204030204" pitchFamily="34" charset="0"/>
                <a:cs typeface="Times New Roman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entury Gothic"/>
                <a:ea typeface="Calibri" panose="020F0502020204030204" pitchFamily="34" charset="0"/>
                <a:cs typeface="Times New Roman"/>
              </a:rPr>
              <a:t>emrit</a:t>
            </a:r>
            <a:r>
              <a:rPr lang="en-US" dirty="0">
                <a:solidFill>
                  <a:schemeClr val="tx1"/>
                </a:solidFill>
                <a:latin typeface="Century Gothic"/>
                <a:ea typeface="Calibri" panose="020F0502020204030204" pitchFamily="34" charset="0"/>
                <a:cs typeface="Times New Roman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entury Gothic"/>
                <a:ea typeface="Calibri" panose="020F0502020204030204" pitchFamily="34" charset="0"/>
                <a:cs typeface="Times New Roman"/>
              </a:rPr>
              <a:t>dhe</a:t>
            </a:r>
            <a:r>
              <a:rPr lang="en-US" dirty="0">
                <a:solidFill>
                  <a:schemeClr val="tx1"/>
                </a:solidFill>
                <a:latin typeface="Century Gothic"/>
                <a:ea typeface="Calibri" panose="020F0502020204030204" pitchFamily="34" charset="0"/>
                <a:cs typeface="Times New Roman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entury Gothic"/>
                <a:ea typeface="Calibri" panose="020F0502020204030204" pitchFamily="34" charset="0"/>
                <a:cs typeface="Times New Roman"/>
              </a:rPr>
              <a:t>fjalëkalimit</a:t>
            </a:r>
            <a:r>
              <a:rPr lang="en-US" dirty="0">
                <a:solidFill>
                  <a:schemeClr val="tx1"/>
                </a:solidFill>
                <a:latin typeface="Century Gothic"/>
                <a:ea typeface="Calibri" panose="020F0502020204030204" pitchFamily="34" charset="0"/>
                <a:cs typeface="Times New Roman"/>
              </a:rPr>
              <a:t> se </a:t>
            </a:r>
            <a:r>
              <a:rPr lang="en-US" dirty="0" err="1">
                <a:solidFill>
                  <a:schemeClr val="tx1"/>
                </a:solidFill>
                <a:latin typeface="Century Gothic"/>
                <a:ea typeface="Calibri" panose="020F0502020204030204" pitchFamily="34" charset="0"/>
                <a:cs typeface="Times New Roman"/>
              </a:rPr>
              <a:t>cilit</a:t>
            </a:r>
            <a:r>
              <a:rPr lang="en-US" dirty="0">
                <a:solidFill>
                  <a:schemeClr val="tx1"/>
                </a:solidFill>
                <a:latin typeface="Century Gothic"/>
                <a:ea typeface="Calibri" panose="020F0502020204030204" pitchFamily="34" charset="0"/>
                <a:cs typeface="Times New Roman"/>
              </a:rPr>
              <a:t> router </a:t>
            </a:r>
            <a:r>
              <a:rPr lang="en-US" dirty="0" err="1">
                <a:solidFill>
                  <a:schemeClr val="tx1"/>
                </a:solidFill>
                <a:latin typeface="Century Gothic"/>
                <a:ea typeface="Calibri" panose="020F0502020204030204" pitchFamily="34" charset="0"/>
                <a:cs typeface="Times New Roman"/>
              </a:rPr>
              <a:t>i</a:t>
            </a:r>
            <a:r>
              <a:rPr lang="en-US" dirty="0">
                <a:solidFill>
                  <a:schemeClr val="tx1"/>
                </a:solidFill>
                <a:latin typeface="Century Gothic"/>
                <a:ea typeface="Calibri" panose="020F0502020204030204" pitchFamily="34" charset="0"/>
                <a:cs typeface="Times New Roman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entury Gothic"/>
                <a:ea typeface="Calibri" panose="020F0502020204030204" pitchFamily="34" charset="0"/>
                <a:cs typeface="Times New Roman"/>
              </a:rPr>
              <a:t>takojnë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65" name="Google Shape;165;p24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1DA1AF-31F5-47C4-A75D-7D4359956812}"/>
              </a:ext>
            </a:extLst>
          </p:cNvPr>
          <p:cNvSpPr txBox="1"/>
          <p:nvPr/>
        </p:nvSpPr>
        <p:spPr>
          <a:xfrm>
            <a:off x="2392326" y="4039260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</a:rPr>
              <a:t>Fig 8.Përcaktimi </a:t>
            </a:r>
            <a:r>
              <a:rPr lang="en-US" sz="1400" i="1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</a:rPr>
              <a:t>i</a:t>
            </a:r>
            <a:r>
              <a:rPr lang="en-US" sz="1400" i="1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</a:rPr>
              <a:t> </a:t>
            </a:r>
            <a:r>
              <a:rPr lang="en-US" sz="1400" i="1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</a:rPr>
              <a:t>emrit</a:t>
            </a:r>
            <a:r>
              <a:rPr lang="en-US" sz="1400" i="1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</a:rPr>
              <a:t> </a:t>
            </a:r>
            <a:r>
              <a:rPr lang="en-US" sz="1400" i="1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</a:rPr>
              <a:t>dhe</a:t>
            </a:r>
            <a:r>
              <a:rPr lang="en-US" sz="1400" i="1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</a:rPr>
              <a:t> </a:t>
            </a:r>
            <a:r>
              <a:rPr lang="en-US" sz="1400" i="1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</a:rPr>
              <a:t>fjalëkalimit</a:t>
            </a:r>
            <a:r>
              <a:rPr lang="en-US" sz="1400" i="1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</a:rPr>
              <a:t> </a:t>
            </a:r>
            <a:r>
              <a:rPr lang="en-US" sz="1400" i="1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</a:rPr>
              <a:t>të</a:t>
            </a:r>
            <a:r>
              <a:rPr lang="en-US" sz="1400" i="1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</a:rPr>
              <a:t> Wi-Fi router-it</a:t>
            </a:r>
            <a:endParaRPr lang="en-US" sz="1400" dirty="0">
              <a:latin typeface="Century Gothic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9516FC-E4EC-4914-B25E-6E034D42F3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7634" y="581020"/>
            <a:ext cx="6097472" cy="3115076"/>
          </a:xfrm>
          <a:prstGeom prst="rect">
            <a:avLst/>
          </a:prstGeom>
          <a:scene3d>
            <a:camera prst="perspectiveLeft"/>
            <a:lightRig rig="threePt" dir="t"/>
          </a:scene3d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5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340B3C4-6D22-46E0-A736-C1EE8ED81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50" y="205975"/>
            <a:ext cx="4416752" cy="857400"/>
          </a:xfrm>
        </p:spPr>
        <p:txBody>
          <a:bodyPr/>
          <a:lstStyle/>
          <a:p>
            <a:r>
              <a:rPr lang="en-US" dirty="0"/>
              <a:t>ROUTIMI STATIK</a:t>
            </a:r>
            <a:endParaRPr lang="de-CH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A771AE5-89F9-4483-9D85-6A29255780C0}"/>
              </a:ext>
            </a:extLst>
          </p:cNvPr>
          <p:cNvSpPr txBox="1"/>
          <p:nvPr/>
        </p:nvSpPr>
        <p:spPr>
          <a:xfrm>
            <a:off x="318977" y="1152931"/>
            <a:ext cx="3838353" cy="2379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lang="en-US" i="1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Network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– 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shenojmë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network id e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rrjetit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me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të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cilin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deshirojmë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të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komunikojmë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.</a:t>
            </a:r>
            <a:endParaRPr lang="en-US" dirty="0">
              <a:latin typeface="Century Gothic"/>
              <a:ea typeface="Calibri" panose="020F0502020204030204" pitchFamily="34" charset="0"/>
              <a:cs typeface="Calibri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i="1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Mask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–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shenojmë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subnet-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masken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e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rrjetit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përkatës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.</a:t>
            </a:r>
            <a:endParaRPr lang="en-US" dirty="0">
              <a:latin typeface="Century Gothic"/>
              <a:ea typeface="Calibri" panose="020F0502020204030204" pitchFamily="34" charset="0"/>
              <a:cs typeface="Calibri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i="1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Next Hop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-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shenojmë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ip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adresen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e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lidhjes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në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rastin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tonë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serial)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të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router-it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që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përmban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network id e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rrjetit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me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të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cilin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po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dëshirojme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të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komunikojmë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, e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që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është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përcaktuar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në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fushën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e </a:t>
            </a:r>
            <a:r>
              <a:rPr lang="en-US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parë</a:t>
            </a:r>
            <a:r>
              <a:rPr lang="en-US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network.</a:t>
            </a:r>
            <a:endParaRPr lang="en-US" dirty="0">
              <a:latin typeface="Century Gothic"/>
              <a:ea typeface="Calibri" panose="020F0502020204030204" pitchFamily="34" charset="0"/>
              <a:cs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42B057-AEA3-4792-BEF1-69C33FA086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953295"/>
            <a:ext cx="3838353" cy="379655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9D04FE-6FFD-41BA-A24D-0978FC6BF611}"/>
              </a:ext>
            </a:extLst>
          </p:cNvPr>
          <p:cNvSpPr txBox="1"/>
          <p:nvPr/>
        </p:nvSpPr>
        <p:spPr>
          <a:xfrm>
            <a:off x="3072809" y="531911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ROUTIMI DINAMIK</a:t>
            </a:r>
            <a:endParaRPr lang="de-CH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B6237D-97CE-4188-B24F-1DB73EAC28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172" y="1225493"/>
            <a:ext cx="4540895" cy="236831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4A0C73-F994-4CE3-A675-B4C022FBB7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5860" y="1037164"/>
            <a:ext cx="3646968" cy="35744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5CF84D5-2678-4B87-B743-AAEBD5B36A7B}"/>
              </a:ext>
            </a:extLst>
          </p:cNvPr>
          <p:cNvSpPr txBox="1"/>
          <p:nvPr/>
        </p:nvSpPr>
        <p:spPr>
          <a:xfrm>
            <a:off x="-619807" y="3918007"/>
            <a:ext cx="4587948" cy="305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400" i="1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Fig 10.Routimi </a:t>
            </a:r>
            <a:r>
              <a:rPr lang="en-US" sz="1400" i="1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Dinamik</a:t>
            </a:r>
            <a:r>
              <a:rPr lang="en-US" sz="1400" i="1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 </a:t>
            </a:r>
            <a:endParaRPr lang="en-US" sz="1400" dirty="0">
              <a:latin typeface="Century Gothic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6718E7-76DE-456E-AED5-90F647612EE4}"/>
              </a:ext>
            </a:extLst>
          </p:cNvPr>
          <p:cNvSpPr txBox="1"/>
          <p:nvPr/>
        </p:nvSpPr>
        <p:spPr>
          <a:xfrm>
            <a:off x="1919177" y="4547293"/>
            <a:ext cx="4880344" cy="53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400" i="1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Fig 11.Konfigurimi Router-it </a:t>
            </a:r>
            <a:r>
              <a:rPr lang="en-US" sz="1400" i="1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për</a:t>
            </a:r>
            <a:r>
              <a:rPr lang="en-US" sz="1400" i="1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sz="1400" i="1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të</a:t>
            </a:r>
            <a:r>
              <a:rPr lang="en-US" sz="1400" i="1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sz="1400" i="1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realizuar</a:t>
            </a:r>
            <a:r>
              <a:rPr lang="en-US" sz="1400" i="1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sz="1400" i="1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komunikimin</a:t>
            </a:r>
            <a:r>
              <a:rPr lang="en-US" sz="1400" i="1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sz="1400" i="1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dinamik</a:t>
            </a:r>
            <a:endParaRPr lang="en-US" sz="1400" dirty="0">
              <a:latin typeface="Century Gothic"/>
              <a:ea typeface="Calibri" panose="020F0502020204030204" pitchFamily="34" charset="0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7"/>
          <p:cNvSpPr txBox="1">
            <a:spLocks noGrp="1"/>
          </p:cNvSpPr>
          <p:nvPr>
            <p:ph type="title"/>
          </p:nvPr>
        </p:nvSpPr>
        <p:spPr>
          <a:xfrm>
            <a:off x="580550" y="205975"/>
            <a:ext cx="60144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TESTIMI</a:t>
            </a:r>
            <a:endParaRPr dirty="0"/>
          </a:p>
        </p:txBody>
      </p:sp>
      <p:sp>
        <p:nvSpPr>
          <p:cNvPr id="242" name="Google Shape;242;p27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sp>
        <p:nvSpPr>
          <p:cNvPr id="243" name="Google Shape;243;p27"/>
          <p:cNvSpPr txBox="1">
            <a:spLocks noGrp="1"/>
          </p:cNvSpPr>
          <p:nvPr>
            <p:ph type="body" idx="4294967295"/>
          </p:nvPr>
        </p:nvSpPr>
        <p:spPr>
          <a:xfrm flipH="1">
            <a:off x="31850" y="4604575"/>
            <a:ext cx="2371108" cy="30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</a:t>
            </a:r>
            <a:endParaRPr sz="9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244" name="Google Shape;24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8591" y="2123546"/>
            <a:ext cx="185882" cy="20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4266" y="3546021"/>
            <a:ext cx="185882" cy="20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2816" y="1921046"/>
            <a:ext cx="185882" cy="20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1291" y="3831871"/>
            <a:ext cx="185882" cy="20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7641" y="2326046"/>
            <a:ext cx="185882" cy="20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4441" y="3896571"/>
            <a:ext cx="185882" cy="20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E5A306A-919D-4AC8-BB0F-0687C7BE23E0}"/>
              </a:ext>
            </a:extLst>
          </p:cNvPr>
          <p:cNvSpPr txBox="1"/>
          <p:nvPr/>
        </p:nvSpPr>
        <p:spPr>
          <a:xfrm>
            <a:off x="95693" y="1191206"/>
            <a:ext cx="4572000" cy="106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 err="1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Testimi</a:t>
            </a:r>
            <a:r>
              <a:rPr lang="en-US" dirty="0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realizohet</a:t>
            </a:r>
            <a:r>
              <a:rPr lang="en-US" dirty="0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përmes</a:t>
            </a:r>
            <a:r>
              <a:rPr lang="en-US" dirty="0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komandës</a:t>
            </a:r>
            <a:r>
              <a:rPr lang="en-US" dirty="0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 ping </a:t>
            </a:r>
            <a:r>
              <a:rPr lang="en-US" dirty="0" err="1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në</a:t>
            </a:r>
            <a:r>
              <a:rPr lang="en-US" dirty="0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pajisjen</a:t>
            </a:r>
            <a:r>
              <a:rPr lang="en-US" dirty="0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përkatëse</a:t>
            </a:r>
            <a:r>
              <a:rPr lang="en-US" dirty="0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. </a:t>
            </a:r>
            <a:r>
              <a:rPr lang="en-US" dirty="0" err="1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Në</a:t>
            </a:r>
            <a:r>
              <a:rPr lang="en-US" dirty="0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vijim</a:t>
            </a:r>
            <a:r>
              <a:rPr lang="en-US" dirty="0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 do </a:t>
            </a:r>
            <a:r>
              <a:rPr lang="en-US" dirty="0" err="1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jepen</a:t>
            </a:r>
            <a:r>
              <a:rPr lang="en-US" dirty="0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disa</a:t>
            </a:r>
            <a:r>
              <a:rPr lang="en-US" dirty="0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shembuj</a:t>
            </a:r>
            <a:r>
              <a:rPr lang="en-US" dirty="0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të</a:t>
            </a:r>
            <a:r>
              <a:rPr lang="en-US" dirty="0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till</a:t>
            </a:r>
            <a:r>
              <a:rPr lang="en-US" sz="1800" dirty="0" err="1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Times New Roman"/>
              </a:rPr>
              <a:t>ë</a:t>
            </a:r>
            <a:r>
              <a:rPr lang="en-US" dirty="0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ku</a:t>
            </a:r>
            <a:r>
              <a:rPr lang="en-US" dirty="0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pajisje</a:t>
            </a:r>
            <a:r>
              <a:rPr lang="en-US" dirty="0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të</a:t>
            </a:r>
            <a:r>
              <a:rPr lang="en-US" dirty="0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ndryshme</a:t>
            </a:r>
            <a:r>
              <a:rPr lang="en-US" dirty="0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pingojnë</a:t>
            </a:r>
            <a:r>
              <a:rPr lang="en-US" dirty="0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në</a:t>
            </a:r>
            <a:r>
              <a:rPr lang="en-US" dirty="0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pajisjet</a:t>
            </a:r>
            <a:r>
              <a:rPr lang="en-US" dirty="0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 e </a:t>
            </a:r>
            <a:r>
              <a:rPr lang="en-US" dirty="0" err="1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degëve</a:t>
            </a:r>
            <a:r>
              <a:rPr lang="en-US" dirty="0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tjera</a:t>
            </a:r>
            <a:r>
              <a:rPr lang="en-US" dirty="0">
                <a:solidFill>
                  <a:schemeClr val="bg1"/>
                </a:solidFill>
                <a:latin typeface="Century Gothic"/>
                <a:ea typeface="Calibri" panose="020F0502020204030204" pitchFamily="34" charset="0"/>
                <a:cs typeface="Calibri"/>
              </a:rPr>
              <a:t>(end to end connectivity).</a:t>
            </a:r>
            <a:endParaRPr lang="en-US" sz="1800" dirty="0">
              <a:solidFill>
                <a:schemeClr val="bg1"/>
              </a:solidFill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CFE5BA-B40E-461E-853A-9CA2CC98BA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2084" y="420709"/>
            <a:ext cx="3989897" cy="393111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B1CA2CE-59D8-43F9-8A11-16F50BE0A4FA}"/>
              </a:ext>
            </a:extLst>
          </p:cNvPr>
          <p:cNvSpPr txBox="1"/>
          <p:nvPr/>
        </p:nvSpPr>
        <p:spPr>
          <a:xfrm>
            <a:off x="125410" y="3884274"/>
            <a:ext cx="4593264" cy="53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400" i="1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Fig 12.Pingu </a:t>
            </a:r>
            <a:r>
              <a:rPr lang="en-US" sz="1400" i="1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prej</a:t>
            </a:r>
            <a:r>
              <a:rPr lang="en-US" sz="1400" i="1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sz="1400" i="1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një</a:t>
            </a:r>
            <a:r>
              <a:rPr lang="en-US" sz="1400" i="1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pc </a:t>
            </a:r>
            <a:r>
              <a:rPr lang="en-US" sz="1400" i="1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të</a:t>
            </a:r>
            <a:r>
              <a:rPr lang="en-US" sz="1400" i="1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sz="1400" i="1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një</a:t>
            </a:r>
            <a:r>
              <a:rPr lang="en-US" sz="1400" i="1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sz="1400" i="1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rrjete</a:t>
            </a:r>
            <a:r>
              <a:rPr lang="en-US" sz="1400" i="1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sz="1400" i="1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në</a:t>
            </a:r>
            <a:r>
              <a:rPr lang="en-US" sz="1400" i="1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sz="1400" i="1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një</a:t>
            </a:r>
            <a:r>
              <a:rPr lang="en-US" sz="1400" i="1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pc </a:t>
            </a:r>
            <a:r>
              <a:rPr lang="en-US" sz="1400" i="1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të</a:t>
            </a:r>
            <a:r>
              <a:rPr lang="en-US" sz="1400" i="1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sz="1400" i="1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rrjetës</a:t>
            </a:r>
            <a:r>
              <a:rPr lang="en-US" sz="1400" i="1" dirty="0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 </a:t>
            </a:r>
            <a:r>
              <a:rPr lang="en-US" sz="1400" i="1" dirty="0" err="1">
                <a:solidFill>
                  <a:srgbClr val="000000"/>
                </a:solidFill>
                <a:latin typeface="Century Gothic"/>
                <a:ea typeface="Calibri" panose="020F0502020204030204" pitchFamily="34" charset="0"/>
                <a:cs typeface="Calibri"/>
              </a:rPr>
              <a:t>tjetër</a:t>
            </a:r>
            <a:endParaRPr lang="en-US" sz="1400" dirty="0">
              <a:latin typeface="Century Gothic"/>
              <a:ea typeface="Calibri" panose="020F0502020204030204" pitchFamily="34" charset="0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sp>
        <p:nvSpPr>
          <p:cNvPr id="255" name="Google Shape;255;p28"/>
          <p:cNvSpPr txBox="1">
            <a:spLocks noGrp="1"/>
          </p:cNvSpPr>
          <p:nvPr>
            <p:ph type="subTitle" idx="4294967295"/>
          </p:nvPr>
        </p:nvSpPr>
        <p:spPr>
          <a:xfrm>
            <a:off x="393405" y="1574763"/>
            <a:ext cx="4178595" cy="78422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00" dirty="0"/>
              <a:t>s</a:t>
            </a:r>
            <a:endParaRPr sz="1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14BB3-4DC1-4C35-AF03-B8A2309FB0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091" y="499730"/>
            <a:ext cx="3962909" cy="387025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09CD66A-B3E0-4876-818E-21221816AA28}"/>
              </a:ext>
            </a:extLst>
          </p:cNvPr>
          <p:cNvSpPr txBox="1"/>
          <p:nvPr/>
        </p:nvSpPr>
        <p:spPr>
          <a:xfrm>
            <a:off x="304545" y="4482053"/>
            <a:ext cx="4572000" cy="53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400" i="1" dirty="0">
                <a:latin typeface="Century Gothic"/>
                <a:ea typeface="Calibri" panose="020F0502020204030204" pitchFamily="34" charset="0"/>
                <a:cs typeface="Times New Roman"/>
              </a:rPr>
              <a:t>Fig  13.Pingu </a:t>
            </a:r>
            <a:r>
              <a:rPr lang="en-US" sz="1400" i="1" dirty="0" err="1">
                <a:latin typeface="Century Gothic"/>
                <a:ea typeface="Calibri" panose="020F0502020204030204" pitchFamily="34" charset="0"/>
                <a:cs typeface="Times New Roman"/>
              </a:rPr>
              <a:t>nga</a:t>
            </a:r>
            <a:r>
              <a:rPr lang="en-US" sz="1400" i="1" dirty="0">
                <a:latin typeface="Century Gothic"/>
                <a:ea typeface="Calibri" panose="020F0502020204030204" pitchFamily="34" charset="0"/>
                <a:cs typeface="Times New Roman"/>
              </a:rPr>
              <a:t> </a:t>
            </a:r>
            <a:r>
              <a:rPr lang="en-US" sz="1400" i="1" dirty="0" err="1">
                <a:latin typeface="Century Gothic"/>
                <a:ea typeface="Calibri" panose="020F0502020204030204" pitchFamily="34" charset="0"/>
                <a:cs typeface="Times New Roman"/>
              </a:rPr>
              <a:t>një</a:t>
            </a:r>
            <a:r>
              <a:rPr lang="en-US" sz="1400" i="1" dirty="0">
                <a:latin typeface="Century Gothic"/>
                <a:ea typeface="Calibri" panose="020F0502020204030204" pitchFamily="34" charset="0"/>
                <a:cs typeface="Times New Roman"/>
              </a:rPr>
              <a:t> laptop </a:t>
            </a:r>
            <a:r>
              <a:rPr lang="en-US" sz="1400" i="1" dirty="0" err="1">
                <a:latin typeface="Century Gothic"/>
                <a:ea typeface="Calibri" panose="020F0502020204030204" pitchFamily="34" charset="0"/>
                <a:cs typeface="Times New Roman"/>
              </a:rPr>
              <a:t>i</a:t>
            </a:r>
            <a:r>
              <a:rPr lang="en-US" sz="1400" i="1" dirty="0">
                <a:latin typeface="Century Gothic"/>
                <a:ea typeface="Calibri" panose="020F0502020204030204" pitchFamily="34" charset="0"/>
                <a:cs typeface="Times New Roman"/>
              </a:rPr>
              <a:t> </a:t>
            </a:r>
            <a:r>
              <a:rPr lang="en-US" sz="1400" i="1" dirty="0" err="1">
                <a:latin typeface="Century Gothic"/>
                <a:ea typeface="Calibri" panose="020F0502020204030204" pitchFamily="34" charset="0"/>
                <a:cs typeface="Times New Roman"/>
              </a:rPr>
              <a:t>një</a:t>
            </a:r>
            <a:r>
              <a:rPr lang="en-US" sz="1400" i="1" dirty="0">
                <a:latin typeface="Century Gothic"/>
                <a:ea typeface="Calibri" panose="020F0502020204030204" pitchFamily="34" charset="0"/>
                <a:cs typeface="Times New Roman"/>
              </a:rPr>
              <a:t> </a:t>
            </a:r>
            <a:r>
              <a:rPr lang="en-US" sz="1400" i="1" dirty="0" err="1">
                <a:latin typeface="Century Gothic"/>
                <a:ea typeface="Calibri" panose="020F0502020204030204" pitchFamily="34" charset="0"/>
                <a:cs typeface="Times New Roman"/>
              </a:rPr>
              <a:t>dege</a:t>
            </a:r>
            <a:r>
              <a:rPr lang="en-US" sz="1400" i="1" dirty="0">
                <a:latin typeface="Century Gothic"/>
                <a:ea typeface="Calibri" panose="020F0502020204030204" pitchFamily="34" charset="0"/>
                <a:cs typeface="Times New Roman"/>
              </a:rPr>
              <a:t> </a:t>
            </a:r>
            <a:r>
              <a:rPr lang="en-US" sz="1400" i="1" dirty="0" err="1">
                <a:latin typeface="Century Gothic"/>
                <a:ea typeface="Calibri" panose="020F0502020204030204" pitchFamily="34" charset="0"/>
                <a:cs typeface="Times New Roman"/>
              </a:rPr>
              <a:t>në</a:t>
            </a:r>
            <a:r>
              <a:rPr lang="en-US" sz="1400" i="1" dirty="0">
                <a:latin typeface="Century Gothic"/>
                <a:ea typeface="Calibri" panose="020F0502020204030204" pitchFamily="34" charset="0"/>
                <a:cs typeface="Times New Roman"/>
              </a:rPr>
              <a:t> pc-</a:t>
            </a:r>
            <a:r>
              <a:rPr lang="en-US" sz="1400" i="1" dirty="0" err="1">
                <a:latin typeface="Century Gothic"/>
                <a:ea typeface="Calibri" panose="020F0502020204030204" pitchFamily="34" charset="0"/>
                <a:cs typeface="Times New Roman"/>
              </a:rPr>
              <a:t>në</a:t>
            </a:r>
            <a:r>
              <a:rPr lang="en-US" sz="1400" i="1" dirty="0">
                <a:latin typeface="Century Gothic"/>
                <a:ea typeface="Calibri" panose="020F0502020204030204" pitchFamily="34" charset="0"/>
                <a:cs typeface="Times New Roman"/>
              </a:rPr>
              <a:t> e </a:t>
            </a:r>
            <a:r>
              <a:rPr lang="en-US" sz="1400" i="1" dirty="0" err="1">
                <a:latin typeface="Century Gothic"/>
                <a:ea typeface="Calibri" panose="020F0502020204030204" pitchFamily="34" charset="0"/>
                <a:cs typeface="Times New Roman"/>
              </a:rPr>
              <a:t>degës</a:t>
            </a:r>
            <a:r>
              <a:rPr lang="en-US" sz="1400" i="1" dirty="0">
                <a:latin typeface="Century Gothic"/>
                <a:ea typeface="Calibri" panose="020F0502020204030204" pitchFamily="34" charset="0"/>
                <a:cs typeface="Times New Roman"/>
              </a:rPr>
              <a:t> </a:t>
            </a:r>
            <a:r>
              <a:rPr lang="en-US" sz="1400" i="1" dirty="0" err="1">
                <a:latin typeface="Century Gothic"/>
                <a:ea typeface="Calibri" panose="020F0502020204030204" pitchFamily="34" charset="0"/>
                <a:cs typeface="Times New Roman"/>
              </a:rPr>
              <a:t>tjetër</a:t>
            </a:r>
            <a:endParaRPr lang="en-US" sz="1400" dirty="0">
              <a:latin typeface="Century Gothic"/>
              <a:ea typeface="Calibri" panose="020F0502020204030204" pitchFamily="34" charset="0"/>
              <a:cs typeface="Times New Roman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035353-0FF8-4B72-A555-AFBBB474FC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7686" y="499730"/>
            <a:ext cx="3844534" cy="374081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099B2AA-2CED-4B73-8520-3789367B85D9}"/>
              </a:ext>
            </a:extLst>
          </p:cNvPr>
          <p:cNvSpPr txBox="1"/>
          <p:nvPr/>
        </p:nvSpPr>
        <p:spPr>
          <a:xfrm>
            <a:off x="4572000" y="4482053"/>
            <a:ext cx="4572000" cy="53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400" i="1" dirty="0">
                <a:latin typeface="Century Gothic"/>
                <a:ea typeface="Calibri" panose="020F0502020204030204" pitchFamily="34" charset="0"/>
                <a:cs typeface="Times New Roman"/>
              </a:rPr>
              <a:t>Fig 14.Pingu </a:t>
            </a:r>
            <a:r>
              <a:rPr lang="en-US" sz="1400" i="1" dirty="0" err="1">
                <a:latin typeface="Century Gothic"/>
                <a:ea typeface="Calibri" panose="020F0502020204030204" pitchFamily="34" charset="0"/>
                <a:cs typeface="Times New Roman"/>
              </a:rPr>
              <a:t>nga</a:t>
            </a:r>
            <a:r>
              <a:rPr lang="en-US" sz="1400" i="1" dirty="0">
                <a:latin typeface="Century Gothic"/>
                <a:ea typeface="Calibri" panose="020F0502020204030204" pitchFamily="34" charset="0"/>
                <a:cs typeface="Times New Roman"/>
              </a:rPr>
              <a:t> </a:t>
            </a:r>
            <a:r>
              <a:rPr lang="en-US" sz="1400" i="1" dirty="0" err="1">
                <a:latin typeface="Century Gothic"/>
                <a:ea typeface="Calibri" panose="020F0502020204030204" pitchFamily="34" charset="0"/>
                <a:cs typeface="Times New Roman"/>
              </a:rPr>
              <a:t>një</a:t>
            </a:r>
            <a:r>
              <a:rPr lang="en-US" sz="1400" i="1" dirty="0">
                <a:latin typeface="Century Gothic"/>
                <a:ea typeface="Calibri" panose="020F0502020204030204" pitchFamily="34" charset="0"/>
                <a:cs typeface="Times New Roman"/>
              </a:rPr>
              <a:t> pc e </a:t>
            </a:r>
            <a:r>
              <a:rPr lang="en-US" sz="1400" i="1" dirty="0" err="1">
                <a:latin typeface="Century Gothic"/>
                <a:ea typeface="Calibri" panose="020F0502020204030204" pitchFamily="34" charset="0"/>
                <a:cs typeface="Times New Roman"/>
              </a:rPr>
              <a:t>një</a:t>
            </a:r>
            <a:r>
              <a:rPr lang="en-US" sz="1400" i="1" dirty="0">
                <a:latin typeface="Century Gothic"/>
                <a:ea typeface="Calibri" panose="020F0502020204030204" pitchFamily="34" charset="0"/>
                <a:cs typeface="Times New Roman"/>
              </a:rPr>
              <a:t> </a:t>
            </a:r>
            <a:r>
              <a:rPr lang="en-US" sz="1400" i="1" dirty="0" err="1">
                <a:latin typeface="Century Gothic"/>
                <a:ea typeface="Calibri" panose="020F0502020204030204" pitchFamily="34" charset="0"/>
                <a:cs typeface="Times New Roman"/>
              </a:rPr>
              <a:t>dege</a:t>
            </a:r>
            <a:r>
              <a:rPr lang="en-US" sz="1400" i="1" dirty="0">
                <a:latin typeface="Century Gothic"/>
                <a:ea typeface="Calibri" panose="020F0502020204030204" pitchFamily="34" charset="0"/>
                <a:cs typeface="Times New Roman"/>
              </a:rPr>
              <a:t> </a:t>
            </a:r>
            <a:r>
              <a:rPr lang="en-US" sz="1400" i="1" dirty="0" err="1">
                <a:latin typeface="Century Gothic"/>
                <a:ea typeface="Calibri" panose="020F0502020204030204" pitchFamily="34" charset="0"/>
                <a:cs typeface="Times New Roman"/>
              </a:rPr>
              <a:t>në</a:t>
            </a:r>
            <a:r>
              <a:rPr lang="en-US" sz="1400" i="1" dirty="0">
                <a:latin typeface="Century Gothic"/>
                <a:ea typeface="Calibri" panose="020F0502020204030204" pitchFamily="34" charset="0"/>
                <a:cs typeface="Times New Roman"/>
              </a:rPr>
              <a:t> pc-</a:t>
            </a:r>
            <a:r>
              <a:rPr lang="en-US" sz="1400" i="1" dirty="0" err="1">
                <a:latin typeface="Century Gothic"/>
                <a:ea typeface="Calibri" panose="020F0502020204030204" pitchFamily="34" charset="0"/>
                <a:cs typeface="Times New Roman"/>
              </a:rPr>
              <a:t>në</a:t>
            </a:r>
            <a:r>
              <a:rPr lang="en-US" sz="1400" i="1" dirty="0">
                <a:latin typeface="Century Gothic"/>
                <a:ea typeface="Calibri" panose="020F0502020204030204" pitchFamily="34" charset="0"/>
                <a:cs typeface="Times New Roman"/>
              </a:rPr>
              <a:t> e </a:t>
            </a:r>
            <a:r>
              <a:rPr lang="en-US" sz="1400" i="1" dirty="0" err="1">
                <a:latin typeface="Century Gothic"/>
                <a:ea typeface="Calibri" panose="020F0502020204030204" pitchFamily="34" charset="0"/>
                <a:cs typeface="Times New Roman"/>
              </a:rPr>
              <a:t>degës</a:t>
            </a:r>
            <a:r>
              <a:rPr lang="en-US" sz="1400" i="1" dirty="0">
                <a:latin typeface="Century Gothic"/>
                <a:ea typeface="Calibri" panose="020F0502020204030204" pitchFamily="34" charset="0"/>
                <a:cs typeface="Times New Roman"/>
              </a:rPr>
              <a:t> </a:t>
            </a:r>
            <a:r>
              <a:rPr lang="en-US" sz="1400" i="1" dirty="0" err="1">
                <a:latin typeface="Century Gothic"/>
                <a:ea typeface="Calibri" panose="020F0502020204030204" pitchFamily="34" charset="0"/>
                <a:cs typeface="Times New Roman"/>
              </a:rPr>
              <a:t>tjetër</a:t>
            </a:r>
            <a:r>
              <a:rPr lang="en-US" sz="1400" i="1" dirty="0">
                <a:latin typeface="Century Gothic"/>
                <a:ea typeface="Calibri" panose="020F0502020204030204" pitchFamily="34" charset="0"/>
                <a:cs typeface="Times New Roman"/>
              </a:rPr>
              <a:t> me dynamic routing</a:t>
            </a:r>
            <a:endParaRPr lang="en-US" sz="1400" dirty="0">
              <a:latin typeface="Century Gothic"/>
              <a:ea typeface="Calibri" panose="020F0502020204030204" pitchFamily="34" charset="0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9"/>
          <p:cNvSpPr txBox="1">
            <a:spLocks noGrp="1"/>
          </p:cNvSpPr>
          <p:nvPr>
            <p:ph type="ctrTitle" idx="4294967295"/>
          </p:nvPr>
        </p:nvSpPr>
        <p:spPr>
          <a:xfrm>
            <a:off x="685800" y="419400"/>
            <a:ext cx="377456" cy="894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" dirty="0"/>
              <a:t>s</a:t>
            </a:r>
            <a:endParaRPr sz="100" dirty="0"/>
          </a:p>
        </p:txBody>
      </p:sp>
      <p:sp>
        <p:nvSpPr>
          <p:cNvPr id="262" name="Google Shape;262;p29"/>
          <p:cNvSpPr txBox="1">
            <a:spLocks noGrp="1"/>
          </p:cNvSpPr>
          <p:nvPr>
            <p:ph type="subTitle" idx="4294967295"/>
          </p:nvPr>
        </p:nvSpPr>
        <p:spPr>
          <a:xfrm>
            <a:off x="685800" y="1258909"/>
            <a:ext cx="7772400" cy="46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00" dirty="0"/>
              <a:t>s</a:t>
            </a:r>
            <a:endParaRPr sz="100" dirty="0"/>
          </a:p>
        </p:txBody>
      </p:sp>
      <p:sp>
        <p:nvSpPr>
          <p:cNvPr id="263" name="Google Shape;263;p29"/>
          <p:cNvSpPr txBox="1">
            <a:spLocks noGrp="1"/>
          </p:cNvSpPr>
          <p:nvPr>
            <p:ph type="ctrTitle" idx="4294967295"/>
          </p:nvPr>
        </p:nvSpPr>
        <p:spPr>
          <a:xfrm>
            <a:off x="685800" y="3353100"/>
            <a:ext cx="7772400" cy="894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" dirty="0"/>
              <a:t>s</a:t>
            </a:r>
            <a:endParaRPr sz="100" dirty="0"/>
          </a:p>
        </p:txBody>
      </p:sp>
      <p:sp>
        <p:nvSpPr>
          <p:cNvPr id="264" name="Google Shape;264;p29"/>
          <p:cNvSpPr txBox="1">
            <a:spLocks noGrp="1"/>
          </p:cNvSpPr>
          <p:nvPr>
            <p:ph type="subTitle" idx="4294967295"/>
          </p:nvPr>
        </p:nvSpPr>
        <p:spPr>
          <a:xfrm>
            <a:off x="685800" y="4192609"/>
            <a:ext cx="7772400" cy="46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00" dirty="0"/>
              <a:t>1</a:t>
            </a:r>
            <a:endParaRPr sz="100" dirty="0"/>
          </a:p>
        </p:txBody>
      </p:sp>
      <p:sp>
        <p:nvSpPr>
          <p:cNvPr id="265" name="Google Shape;265;p29"/>
          <p:cNvSpPr txBox="1">
            <a:spLocks noGrp="1"/>
          </p:cNvSpPr>
          <p:nvPr>
            <p:ph type="ctrTitle" idx="4294967295"/>
          </p:nvPr>
        </p:nvSpPr>
        <p:spPr>
          <a:xfrm>
            <a:off x="685800" y="1886250"/>
            <a:ext cx="7772400" cy="894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" dirty="0"/>
              <a:t>s</a:t>
            </a:r>
            <a:endParaRPr sz="100" dirty="0"/>
          </a:p>
        </p:txBody>
      </p:sp>
      <p:sp>
        <p:nvSpPr>
          <p:cNvPr id="266" name="Google Shape;266;p29"/>
          <p:cNvSpPr txBox="1">
            <a:spLocks noGrp="1"/>
          </p:cNvSpPr>
          <p:nvPr>
            <p:ph type="subTitle" idx="4294967295"/>
          </p:nvPr>
        </p:nvSpPr>
        <p:spPr>
          <a:xfrm>
            <a:off x="685800" y="2725759"/>
            <a:ext cx="7772400" cy="46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00" dirty="0"/>
              <a:t>s</a:t>
            </a:r>
            <a:endParaRPr sz="100" dirty="0"/>
          </a:p>
        </p:txBody>
      </p:sp>
      <p:sp>
        <p:nvSpPr>
          <p:cNvPr id="267" name="Google Shape;267;p29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40C4AE-0D59-41A6-A3D8-5952832D9D36}"/>
              </a:ext>
            </a:extLst>
          </p:cNvPr>
          <p:cNvSpPr txBox="1"/>
          <p:nvPr/>
        </p:nvSpPr>
        <p:spPr>
          <a:xfrm>
            <a:off x="3359889" y="543323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</a:t>
            </a:r>
            <a:r>
              <a:rPr lang="en-US" dirty="0">
                <a:ea typeface="+mj-lt"/>
                <a:cs typeface="+mj-lt"/>
              </a:rPr>
              <a:t>Ë</a:t>
            </a:r>
            <a:r>
              <a:rPr lang="en-US" dirty="0"/>
              <a:t>RMBLEDHJE</a:t>
            </a:r>
            <a:endParaRPr lang="de-CH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B8EE70-BB57-4F5E-BB69-AD4622D5677E}"/>
              </a:ext>
            </a:extLst>
          </p:cNvPr>
          <p:cNvSpPr txBox="1"/>
          <p:nvPr/>
        </p:nvSpPr>
        <p:spPr>
          <a:xfrm>
            <a:off x="1052623" y="1015241"/>
            <a:ext cx="7405577" cy="996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 err="1">
                <a:latin typeface="Century Gothic"/>
                <a:ea typeface="Calibri" panose="020F0502020204030204" pitchFamily="34" charset="0"/>
                <a:cs typeface="Times New Roman"/>
              </a:rPr>
              <a:t>Realizmi</a:t>
            </a:r>
            <a:r>
              <a:rPr lang="en-US" dirty="0">
                <a:latin typeface="Century Gothic"/>
                <a:ea typeface="Calibri" panose="020F0502020204030204" pitchFamily="34" charset="0"/>
                <a:cs typeface="Times New Roman"/>
              </a:rPr>
              <a:t> </a:t>
            </a:r>
            <a:r>
              <a:rPr lang="en-US" dirty="0" err="1">
                <a:latin typeface="Century Gothic"/>
                <a:ea typeface="Calibri" panose="020F0502020204030204" pitchFamily="34" charset="0"/>
                <a:cs typeface="Times New Roman"/>
              </a:rPr>
              <a:t>i</a:t>
            </a:r>
            <a:r>
              <a:rPr lang="en-US" dirty="0">
                <a:latin typeface="Century Gothic"/>
                <a:ea typeface="Calibri" panose="020F0502020204030204" pitchFamily="34" charset="0"/>
                <a:cs typeface="Times New Roman"/>
              </a:rPr>
              <a:t> </a:t>
            </a:r>
            <a:r>
              <a:rPr lang="en-US" dirty="0" err="1">
                <a:latin typeface="Century Gothic"/>
                <a:ea typeface="Calibri" panose="020F0502020204030204" pitchFamily="34" charset="0"/>
                <a:cs typeface="Times New Roman"/>
              </a:rPr>
              <a:t>këtij</a:t>
            </a:r>
            <a:r>
              <a:rPr lang="en-US" dirty="0">
                <a:latin typeface="Century Gothic"/>
                <a:ea typeface="Calibri" panose="020F0502020204030204" pitchFamily="34" charset="0"/>
                <a:cs typeface="Times New Roman"/>
              </a:rPr>
              <a:t> </a:t>
            </a:r>
            <a:r>
              <a:rPr lang="en-US" dirty="0" err="1">
                <a:latin typeface="Century Gothic"/>
                <a:ea typeface="Calibri" panose="020F0502020204030204" pitchFamily="34" charset="0"/>
                <a:cs typeface="Times New Roman"/>
              </a:rPr>
              <a:t>projekti</a:t>
            </a:r>
            <a:r>
              <a:rPr lang="en-US" dirty="0">
                <a:latin typeface="Century Gothic"/>
                <a:ea typeface="Calibri" panose="020F0502020204030204" pitchFamily="34" charset="0"/>
                <a:cs typeface="Times New Roman"/>
              </a:rPr>
              <a:t> </a:t>
            </a:r>
            <a:r>
              <a:rPr lang="en-US" dirty="0" err="1">
                <a:latin typeface="Century Gothic"/>
                <a:ea typeface="Calibri" panose="020F0502020204030204" pitchFamily="34" charset="0"/>
                <a:cs typeface="Times New Roman"/>
              </a:rPr>
              <a:t>na</a:t>
            </a:r>
            <a:r>
              <a:rPr lang="en-US" dirty="0">
                <a:latin typeface="Century Gothic"/>
                <a:ea typeface="Calibri" panose="020F0502020204030204" pitchFamily="34" charset="0"/>
                <a:cs typeface="Times New Roman"/>
              </a:rPr>
              <a:t> ka </a:t>
            </a:r>
            <a:r>
              <a:rPr lang="en-US" dirty="0" err="1">
                <a:latin typeface="Century Gothic"/>
                <a:ea typeface="Calibri" panose="020F0502020204030204" pitchFamily="34" charset="0"/>
                <a:cs typeface="Times New Roman"/>
              </a:rPr>
              <a:t>ndihmuar</a:t>
            </a:r>
            <a:r>
              <a:rPr lang="en-US" dirty="0">
                <a:latin typeface="Century Gothic"/>
                <a:ea typeface="Calibri" panose="020F0502020204030204" pitchFamily="34" charset="0"/>
                <a:cs typeface="Times New Roman"/>
              </a:rPr>
              <a:t> </a:t>
            </a:r>
            <a:r>
              <a:rPr lang="en-US" dirty="0" err="1">
                <a:latin typeface="Century Gothic"/>
                <a:ea typeface="Calibri" panose="020F0502020204030204" pitchFamily="34" charset="0"/>
                <a:cs typeface="Times New Roman"/>
              </a:rPr>
              <a:t>që</a:t>
            </a:r>
            <a:r>
              <a:rPr lang="en-US" dirty="0">
                <a:latin typeface="Century Gothic"/>
                <a:ea typeface="Calibri" panose="020F0502020204030204" pitchFamily="34" charset="0"/>
                <a:cs typeface="Times New Roman"/>
              </a:rPr>
              <a:t> </a:t>
            </a:r>
            <a:r>
              <a:rPr lang="en-US" dirty="0" err="1">
                <a:latin typeface="Century Gothic"/>
                <a:ea typeface="Calibri" panose="020F0502020204030204" pitchFamily="34" charset="0"/>
                <a:cs typeface="Times New Roman"/>
              </a:rPr>
              <a:t>të</a:t>
            </a:r>
            <a:r>
              <a:rPr lang="en-US" dirty="0">
                <a:latin typeface="Century Gothic"/>
                <a:ea typeface="Calibri" panose="020F0502020204030204" pitchFamily="34" charset="0"/>
                <a:cs typeface="Times New Roman"/>
              </a:rPr>
              <a:t> </a:t>
            </a:r>
            <a:r>
              <a:rPr lang="en-US" dirty="0" err="1">
                <a:latin typeface="Century Gothic"/>
                <a:ea typeface="Calibri" panose="020F0502020204030204" pitchFamily="34" charset="0"/>
                <a:cs typeface="Times New Roman"/>
              </a:rPr>
              <a:t>kuptojmë</a:t>
            </a:r>
            <a:r>
              <a:rPr lang="en-US" dirty="0">
                <a:latin typeface="Century Gothic"/>
                <a:ea typeface="Calibri" panose="020F0502020204030204" pitchFamily="34" charset="0"/>
                <a:cs typeface="Times New Roman"/>
              </a:rPr>
              <a:t> </a:t>
            </a:r>
            <a:r>
              <a:rPr lang="en-US" dirty="0" err="1">
                <a:latin typeface="Century Gothic"/>
                <a:ea typeface="Calibri" panose="020F0502020204030204" pitchFamily="34" charset="0"/>
                <a:cs typeface="Times New Roman"/>
              </a:rPr>
              <a:t>më</a:t>
            </a:r>
            <a:r>
              <a:rPr lang="en-US" dirty="0">
                <a:latin typeface="Century Gothic"/>
                <a:ea typeface="Calibri" panose="020F0502020204030204" pitchFamily="34" charset="0"/>
                <a:cs typeface="Times New Roman"/>
              </a:rPr>
              <a:t> </a:t>
            </a:r>
            <a:r>
              <a:rPr lang="en-US" dirty="0" err="1">
                <a:latin typeface="Century Gothic"/>
                <a:ea typeface="Calibri" panose="020F0502020204030204" pitchFamily="34" charset="0"/>
                <a:cs typeface="Times New Roman"/>
              </a:rPr>
              <a:t>qartë</a:t>
            </a:r>
            <a:r>
              <a:rPr lang="en-US" dirty="0">
                <a:latin typeface="Century Gothic"/>
                <a:ea typeface="Calibri" panose="020F0502020204030204" pitchFamily="34" charset="0"/>
                <a:cs typeface="Times New Roman"/>
              </a:rPr>
              <a:t> </a:t>
            </a:r>
            <a:r>
              <a:rPr lang="en-US" dirty="0" err="1">
                <a:latin typeface="Century Gothic"/>
                <a:ea typeface="Calibri" panose="020F0502020204030204" pitchFamily="34" charset="0"/>
                <a:cs typeface="Times New Roman"/>
              </a:rPr>
              <a:t>procesin</a:t>
            </a:r>
            <a:r>
              <a:rPr lang="en-US" dirty="0">
                <a:latin typeface="Century Gothic"/>
                <a:ea typeface="Calibri" panose="020F0502020204030204" pitchFamily="34" charset="0"/>
                <a:cs typeface="Times New Roman"/>
              </a:rPr>
              <a:t> e </a:t>
            </a:r>
            <a:r>
              <a:rPr lang="en-US" dirty="0" err="1">
                <a:latin typeface="Century Gothic"/>
                <a:ea typeface="Calibri" panose="020F0502020204030204" pitchFamily="34" charset="0"/>
                <a:cs typeface="Times New Roman"/>
              </a:rPr>
              <a:t>dizajnimit</a:t>
            </a:r>
            <a:r>
              <a:rPr lang="en-US" dirty="0">
                <a:latin typeface="Century Gothic"/>
                <a:ea typeface="Calibri" panose="020F0502020204030204" pitchFamily="34" charset="0"/>
                <a:cs typeface="Times New Roman"/>
              </a:rPr>
              <a:t> </a:t>
            </a:r>
            <a:r>
              <a:rPr lang="en-US" dirty="0" err="1">
                <a:latin typeface="Century Gothic"/>
                <a:ea typeface="Calibri" panose="020F0502020204030204" pitchFamily="34" charset="0"/>
                <a:cs typeface="Times New Roman"/>
              </a:rPr>
              <a:t>të</a:t>
            </a:r>
            <a:r>
              <a:rPr lang="en-US" dirty="0">
                <a:latin typeface="Century Gothic"/>
                <a:ea typeface="Calibri" panose="020F0502020204030204" pitchFamily="34" charset="0"/>
                <a:cs typeface="Times New Roman"/>
              </a:rPr>
              <a:t> </a:t>
            </a:r>
            <a:r>
              <a:rPr lang="en-US" dirty="0" err="1">
                <a:latin typeface="Century Gothic"/>
                <a:ea typeface="Calibri" panose="020F0502020204030204" pitchFamily="34" charset="0"/>
                <a:cs typeface="Times New Roman"/>
              </a:rPr>
              <a:t>një</a:t>
            </a:r>
            <a:r>
              <a:rPr lang="en-US" dirty="0">
                <a:latin typeface="Century Gothic"/>
                <a:ea typeface="Calibri" panose="020F0502020204030204" pitchFamily="34" charset="0"/>
                <a:cs typeface="Times New Roman"/>
              </a:rPr>
              <a:t> </a:t>
            </a:r>
            <a:r>
              <a:rPr lang="en-US" dirty="0" err="1">
                <a:latin typeface="Century Gothic"/>
                <a:ea typeface="Calibri" panose="020F0502020204030204" pitchFamily="34" charset="0"/>
                <a:cs typeface="Times New Roman"/>
              </a:rPr>
              <a:t>rrjete</a:t>
            </a:r>
            <a:r>
              <a:rPr lang="en-US" dirty="0">
                <a:latin typeface="Century Gothic"/>
                <a:ea typeface="Calibri" panose="020F0502020204030204" pitchFamily="34" charset="0"/>
                <a:cs typeface="Times New Roman"/>
              </a:rPr>
              <a:t>, </a:t>
            </a:r>
            <a:r>
              <a:rPr lang="en-US" dirty="0" err="1">
                <a:latin typeface="Century Gothic"/>
                <a:ea typeface="Calibri" panose="020F0502020204030204" pitchFamily="34" charset="0"/>
                <a:cs typeface="Times New Roman"/>
              </a:rPr>
              <a:t>ip</a:t>
            </a:r>
            <a:r>
              <a:rPr lang="en-US" dirty="0">
                <a:latin typeface="Century Gothic"/>
                <a:ea typeface="Calibri" panose="020F0502020204030204" pitchFamily="34" charset="0"/>
                <a:cs typeface="Times New Roman"/>
              </a:rPr>
              <a:t> </a:t>
            </a:r>
            <a:r>
              <a:rPr lang="en-US" dirty="0" err="1">
                <a:latin typeface="Century Gothic"/>
                <a:ea typeface="Calibri" panose="020F0502020204030204" pitchFamily="34" charset="0"/>
                <a:cs typeface="Times New Roman"/>
              </a:rPr>
              <a:t>adresimin</a:t>
            </a:r>
            <a:r>
              <a:rPr lang="en-US" dirty="0">
                <a:latin typeface="Century Gothic"/>
                <a:ea typeface="Calibri" panose="020F0502020204030204" pitchFamily="34" charset="0"/>
                <a:cs typeface="Times New Roman"/>
              </a:rPr>
              <a:t>, </a:t>
            </a:r>
            <a:r>
              <a:rPr lang="en-US" dirty="0" err="1">
                <a:latin typeface="Century Gothic"/>
                <a:ea typeface="Calibri" panose="020F0502020204030204" pitchFamily="34" charset="0"/>
                <a:cs typeface="Times New Roman"/>
              </a:rPr>
              <a:t>pajisjet</a:t>
            </a:r>
            <a:r>
              <a:rPr lang="en-US" dirty="0">
                <a:latin typeface="Century Gothic"/>
                <a:ea typeface="Calibri" panose="020F0502020204030204" pitchFamily="34" charset="0"/>
                <a:cs typeface="Times New Roman"/>
              </a:rPr>
              <a:t> </a:t>
            </a:r>
            <a:r>
              <a:rPr lang="en-US" dirty="0" err="1">
                <a:latin typeface="Century Gothic"/>
                <a:ea typeface="Calibri" panose="020F0502020204030204" pitchFamily="34" charset="0"/>
                <a:cs typeface="Times New Roman"/>
              </a:rPr>
              <a:t>kryesore</a:t>
            </a:r>
            <a:r>
              <a:rPr lang="en-US" dirty="0">
                <a:latin typeface="Century Gothic"/>
                <a:ea typeface="Calibri" panose="020F0502020204030204" pitchFamily="34" charset="0"/>
                <a:cs typeface="Times New Roman"/>
              </a:rPr>
              <a:t> </a:t>
            </a:r>
            <a:r>
              <a:rPr lang="en-US" dirty="0" err="1">
                <a:latin typeface="Century Gothic"/>
                <a:ea typeface="Calibri" panose="020F0502020204030204" pitchFamily="34" charset="0"/>
                <a:cs typeface="Times New Roman"/>
              </a:rPr>
              <a:t>të</a:t>
            </a:r>
            <a:r>
              <a:rPr lang="en-US" dirty="0">
                <a:latin typeface="Century Gothic"/>
                <a:ea typeface="Calibri" panose="020F0502020204030204" pitchFamily="34" charset="0"/>
                <a:cs typeface="Times New Roman"/>
              </a:rPr>
              <a:t> </a:t>
            </a:r>
            <a:r>
              <a:rPr lang="en-US" dirty="0" err="1">
                <a:latin typeface="Century Gothic"/>
                <a:ea typeface="Calibri" panose="020F0502020204030204" pitchFamily="34" charset="0"/>
                <a:cs typeface="Times New Roman"/>
              </a:rPr>
              <a:t>rrjetës</a:t>
            </a:r>
            <a:r>
              <a:rPr lang="en-US" dirty="0">
                <a:latin typeface="Century Gothic"/>
                <a:ea typeface="Calibri" panose="020F0502020204030204" pitchFamily="34" charset="0"/>
                <a:cs typeface="Times New Roman"/>
              </a:rPr>
              <a:t>, </a:t>
            </a:r>
            <a:r>
              <a:rPr lang="en-US" dirty="0" err="1">
                <a:latin typeface="Century Gothic"/>
                <a:ea typeface="Calibri" panose="020F0502020204030204" pitchFamily="34" charset="0"/>
                <a:cs typeface="Times New Roman"/>
              </a:rPr>
              <a:t>konfigurimin</a:t>
            </a:r>
            <a:r>
              <a:rPr lang="en-US" dirty="0">
                <a:latin typeface="Century Gothic"/>
                <a:ea typeface="Calibri" panose="020F0502020204030204" pitchFamily="34" charset="0"/>
                <a:cs typeface="Times New Roman"/>
              </a:rPr>
              <a:t> e </a:t>
            </a:r>
            <a:r>
              <a:rPr lang="en-US" dirty="0" err="1">
                <a:latin typeface="Century Gothic"/>
                <a:ea typeface="Calibri" panose="020F0502020204030204" pitchFamily="34" charset="0"/>
                <a:cs typeface="Times New Roman"/>
              </a:rPr>
              <a:t>tyre</a:t>
            </a:r>
            <a:r>
              <a:rPr lang="en-US" dirty="0">
                <a:latin typeface="Century Gothic"/>
                <a:ea typeface="Calibri" panose="020F0502020204030204" pitchFamily="34" charset="0"/>
                <a:cs typeface="Times New Roman"/>
              </a:rPr>
              <a:t> </a:t>
            </a:r>
            <a:r>
              <a:rPr lang="en-US" dirty="0" err="1">
                <a:latin typeface="Century Gothic"/>
                <a:ea typeface="Calibri" panose="020F0502020204030204" pitchFamily="34" charset="0"/>
                <a:cs typeface="Times New Roman"/>
              </a:rPr>
              <a:t>dhe</a:t>
            </a:r>
            <a:r>
              <a:rPr lang="en-US" dirty="0">
                <a:latin typeface="Century Gothic"/>
                <a:ea typeface="Calibri" panose="020F0502020204030204" pitchFamily="34" charset="0"/>
                <a:cs typeface="Times New Roman"/>
              </a:rPr>
              <a:t> </a:t>
            </a:r>
            <a:r>
              <a:rPr lang="en-US" dirty="0" err="1">
                <a:latin typeface="Century Gothic"/>
                <a:ea typeface="Calibri" panose="020F0502020204030204" pitchFamily="34" charset="0"/>
                <a:cs typeface="Times New Roman"/>
              </a:rPr>
              <a:t>komunikimin</a:t>
            </a:r>
            <a:r>
              <a:rPr lang="en-US" dirty="0">
                <a:latin typeface="Century Gothic"/>
                <a:ea typeface="Calibri" panose="020F0502020204030204" pitchFamily="34" charset="0"/>
                <a:cs typeface="Times New Roman"/>
              </a:rPr>
              <a:t> </a:t>
            </a:r>
            <a:r>
              <a:rPr lang="en-US" dirty="0" err="1">
                <a:latin typeface="Century Gothic"/>
                <a:ea typeface="Calibri" panose="020F0502020204030204" pitchFamily="34" charset="0"/>
                <a:cs typeface="Times New Roman"/>
              </a:rPr>
              <a:t>ndërmjet</a:t>
            </a:r>
            <a:r>
              <a:rPr lang="en-US" dirty="0">
                <a:latin typeface="Century Gothic"/>
                <a:ea typeface="Calibri" panose="020F0502020204030204" pitchFamily="34" charset="0"/>
                <a:cs typeface="Times New Roman"/>
              </a:rPr>
              <a:t> </a:t>
            </a:r>
            <a:r>
              <a:rPr lang="en-US" dirty="0" err="1">
                <a:latin typeface="Century Gothic"/>
                <a:ea typeface="Calibri" panose="020F0502020204030204" pitchFamily="34" charset="0"/>
                <a:cs typeface="Times New Roman"/>
              </a:rPr>
              <a:t>pajisjeve</a:t>
            </a:r>
            <a:r>
              <a:rPr lang="en-US" dirty="0">
                <a:latin typeface="Century Gothic"/>
                <a:ea typeface="Calibri" panose="020F0502020204030204" pitchFamily="34" charset="0"/>
                <a:cs typeface="Times New Roman"/>
              </a:rPr>
              <a:t> </a:t>
            </a:r>
            <a:r>
              <a:rPr lang="en-US" dirty="0" err="1">
                <a:latin typeface="Century Gothic"/>
                <a:ea typeface="Calibri" panose="020F0502020204030204" pitchFamily="34" charset="0"/>
                <a:cs typeface="Times New Roman"/>
              </a:rPr>
              <a:t>në</a:t>
            </a:r>
            <a:r>
              <a:rPr lang="en-US" dirty="0">
                <a:latin typeface="Century Gothic"/>
                <a:ea typeface="Calibri" panose="020F0502020204030204" pitchFamily="34" charset="0"/>
                <a:cs typeface="Times New Roman"/>
              </a:rPr>
              <a:t> </a:t>
            </a:r>
            <a:r>
              <a:rPr lang="en-US" dirty="0" err="1">
                <a:latin typeface="Century Gothic"/>
                <a:ea typeface="Calibri" panose="020F0502020204030204" pitchFamily="34" charset="0"/>
                <a:cs typeface="Times New Roman"/>
              </a:rPr>
              <a:t>rrjetë</a:t>
            </a:r>
            <a:r>
              <a:rPr lang="en-US" dirty="0">
                <a:latin typeface="Century Gothic"/>
                <a:ea typeface="Calibri" panose="020F0502020204030204" pitchFamily="34" charset="0"/>
                <a:cs typeface="Times New Roman"/>
              </a:rPr>
              <a:t>. </a:t>
            </a:r>
            <a:r>
              <a:rPr lang="en-US" dirty="0" err="1">
                <a:latin typeface="Century Gothic"/>
                <a:ea typeface="Calibri" panose="020F0502020204030204" pitchFamily="34" charset="0"/>
                <a:cs typeface="Times New Roman"/>
              </a:rPr>
              <a:t>Në</a:t>
            </a:r>
            <a:r>
              <a:rPr lang="en-US" dirty="0">
                <a:latin typeface="Century Gothic"/>
                <a:ea typeface="Calibri" panose="020F0502020204030204" pitchFamily="34" charset="0"/>
                <a:cs typeface="Times New Roman"/>
              </a:rPr>
              <a:t> fund </a:t>
            </a:r>
            <a:r>
              <a:rPr lang="en-US" dirty="0" err="1">
                <a:latin typeface="Century Gothic"/>
                <a:ea typeface="Calibri" panose="020F0502020204030204" pitchFamily="34" charset="0"/>
                <a:cs typeface="Times New Roman"/>
              </a:rPr>
              <a:t>arritëm</a:t>
            </a:r>
            <a:r>
              <a:rPr lang="en-US" dirty="0">
                <a:latin typeface="Century Gothic"/>
                <a:ea typeface="Calibri" panose="020F0502020204030204" pitchFamily="34" charset="0"/>
                <a:cs typeface="Times New Roman"/>
              </a:rPr>
              <a:t> </a:t>
            </a:r>
            <a:r>
              <a:rPr lang="en-US" dirty="0" err="1">
                <a:latin typeface="Century Gothic"/>
                <a:ea typeface="Calibri" panose="020F0502020204030204" pitchFamily="34" charset="0"/>
                <a:cs typeface="Times New Roman"/>
              </a:rPr>
              <a:t>që</a:t>
            </a:r>
            <a:r>
              <a:rPr lang="en-US" dirty="0">
                <a:latin typeface="Century Gothic"/>
                <a:ea typeface="Calibri" panose="020F0502020204030204" pitchFamily="34" charset="0"/>
                <a:cs typeface="Times New Roman"/>
              </a:rPr>
              <a:t> </a:t>
            </a:r>
            <a:r>
              <a:rPr lang="en-US" dirty="0" err="1">
                <a:latin typeface="Century Gothic"/>
                <a:ea typeface="Calibri" panose="020F0502020204030204" pitchFamily="34" charset="0"/>
                <a:cs typeface="Times New Roman"/>
              </a:rPr>
              <a:t>të</a:t>
            </a:r>
            <a:r>
              <a:rPr lang="en-US" dirty="0">
                <a:latin typeface="Century Gothic"/>
                <a:ea typeface="Calibri" panose="020F0502020204030204" pitchFamily="34" charset="0"/>
                <a:cs typeface="Times New Roman"/>
              </a:rPr>
              <a:t> </a:t>
            </a:r>
            <a:r>
              <a:rPr lang="en-US" dirty="0" err="1">
                <a:latin typeface="Century Gothic"/>
                <a:ea typeface="Calibri" panose="020F0502020204030204" pitchFamily="34" charset="0"/>
                <a:cs typeface="Times New Roman"/>
              </a:rPr>
              <a:t>gjitha</a:t>
            </a:r>
            <a:r>
              <a:rPr lang="en-US" dirty="0">
                <a:latin typeface="Century Gothic"/>
                <a:ea typeface="Calibri" panose="020F0502020204030204" pitchFamily="34" charset="0"/>
                <a:cs typeface="Times New Roman"/>
              </a:rPr>
              <a:t>  </a:t>
            </a:r>
            <a:r>
              <a:rPr lang="en-US" dirty="0" err="1">
                <a:latin typeface="Century Gothic"/>
                <a:ea typeface="Calibri" panose="020F0502020204030204" pitchFamily="34" charset="0"/>
                <a:cs typeface="Times New Roman"/>
              </a:rPr>
              <a:t>kërkesat</a:t>
            </a:r>
            <a:r>
              <a:rPr lang="en-US" dirty="0">
                <a:latin typeface="Century Gothic"/>
                <a:ea typeface="Calibri" panose="020F0502020204030204" pitchFamily="34" charset="0"/>
                <a:cs typeface="Times New Roman"/>
              </a:rPr>
              <a:t> e </a:t>
            </a:r>
            <a:r>
              <a:rPr lang="en-US" dirty="0" err="1">
                <a:latin typeface="Century Gothic"/>
                <a:ea typeface="Calibri" panose="020F0502020204030204" pitchFamily="34" charset="0"/>
                <a:cs typeface="Times New Roman"/>
              </a:rPr>
              <a:t>detyrës</a:t>
            </a:r>
            <a:r>
              <a:rPr lang="en-US" dirty="0">
                <a:latin typeface="Century Gothic"/>
                <a:ea typeface="Calibri" panose="020F0502020204030204" pitchFamily="34" charset="0"/>
                <a:cs typeface="Times New Roman"/>
              </a:rPr>
              <a:t> </a:t>
            </a:r>
            <a:r>
              <a:rPr lang="en-US" dirty="0" err="1">
                <a:latin typeface="Century Gothic"/>
                <a:ea typeface="Calibri" panose="020F0502020204030204" pitchFamily="34" charset="0"/>
                <a:cs typeface="Times New Roman"/>
              </a:rPr>
              <a:t>t’i</a:t>
            </a:r>
            <a:r>
              <a:rPr lang="en-US" dirty="0">
                <a:latin typeface="Century Gothic"/>
                <a:ea typeface="Calibri" panose="020F0502020204030204" pitchFamily="34" charset="0"/>
                <a:cs typeface="Times New Roman"/>
              </a:rPr>
              <a:t> </a:t>
            </a:r>
            <a:r>
              <a:rPr lang="en-US" dirty="0" err="1">
                <a:latin typeface="Century Gothic"/>
                <a:ea typeface="Calibri" panose="020F0502020204030204" pitchFamily="34" charset="0"/>
                <a:cs typeface="Times New Roman"/>
              </a:rPr>
              <a:t>realizojmë</a:t>
            </a:r>
            <a:r>
              <a:rPr lang="en-US" dirty="0">
                <a:latin typeface="Century Gothic"/>
                <a:ea typeface="Calibri" panose="020F0502020204030204" pitchFamily="34" charset="0"/>
                <a:cs typeface="Times New Roman"/>
              </a:rPr>
              <a:t> me </a:t>
            </a:r>
            <a:r>
              <a:rPr lang="en-US" dirty="0" err="1">
                <a:latin typeface="Century Gothic"/>
                <a:ea typeface="Calibri" panose="020F0502020204030204" pitchFamily="34" charset="0"/>
                <a:cs typeface="Times New Roman"/>
              </a:rPr>
              <a:t>sukses</a:t>
            </a:r>
            <a:r>
              <a:rPr lang="en-US" dirty="0">
                <a:latin typeface="Century Gothic"/>
                <a:ea typeface="Calibri" panose="020F0502020204030204" pitchFamily="34" charset="0"/>
                <a:cs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sp>
        <p:nvSpPr>
          <p:cNvPr id="272" name="Google Shape;272;p30"/>
          <p:cNvSpPr txBox="1">
            <a:spLocks noGrp="1"/>
          </p:cNvSpPr>
          <p:nvPr>
            <p:ph type="title" idx="4294967295"/>
          </p:nvPr>
        </p:nvSpPr>
        <p:spPr>
          <a:xfrm>
            <a:off x="2062717" y="1620505"/>
            <a:ext cx="6013450" cy="85725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JU FALEMINDERIT!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liena template">
  <a:themeElements>
    <a:clrScheme name="Custom 347">
      <a:dk1>
        <a:srgbClr val="050060"/>
      </a:dk1>
      <a:lt1>
        <a:srgbClr val="FFFFFF"/>
      </a:lt1>
      <a:dk2>
        <a:srgbClr val="585963"/>
      </a:dk2>
      <a:lt2>
        <a:srgbClr val="F3F3F3"/>
      </a:lt2>
      <a:accent1>
        <a:srgbClr val="0A2F9E"/>
      </a:accent1>
      <a:accent2>
        <a:srgbClr val="3544FF"/>
      </a:accent2>
      <a:accent3>
        <a:srgbClr val="24D6FF"/>
      </a:accent3>
      <a:accent4>
        <a:srgbClr val="00FFFF"/>
      </a:accent4>
      <a:accent5>
        <a:srgbClr val="A458FF"/>
      </a:accent5>
      <a:accent6>
        <a:srgbClr val="D392FF"/>
      </a:accent6>
      <a:hlink>
        <a:srgbClr val="FFFFFF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967</Words>
  <Application>Microsoft Office PowerPoint</Application>
  <PresentationFormat>On-screen Show (16:9)</PresentationFormat>
  <Paragraphs>74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Arial</vt:lpstr>
      <vt:lpstr>Calibri</vt:lpstr>
      <vt:lpstr>Open Sans</vt:lpstr>
      <vt:lpstr>Lexend Deca</vt:lpstr>
      <vt:lpstr>Times New Roman</vt:lpstr>
      <vt:lpstr>Symbol</vt:lpstr>
      <vt:lpstr>Muli</vt:lpstr>
      <vt:lpstr>Leelawadee UI</vt:lpstr>
      <vt:lpstr>Century Gothic</vt:lpstr>
      <vt:lpstr>Aliena template</vt:lpstr>
      <vt:lpstr>Dizajnimi i rrjetës së Kompanisë Triple A me Packet Tracer  Lënda: Rrjetat Kompjuterike  </vt:lpstr>
      <vt:lpstr>PowerPoint Presentation</vt:lpstr>
      <vt:lpstr>PowerPoint Presentation</vt:lpstr>
      <vt:lpstr>PowerPoint Presentation</vt:lpstr>
      <vt:lpstr>KONFIGURIMI I ROUTER-IT</vt:lpstr>
      <vt:lpstr>PowerPoint Presentation</vt:lpstr>
      <vt:lpstr>KONFIGURIMI I SWITCH-IT</vt:lpstr>
      <vt:lpstr>PowerPoint Presentation</vt:lpstr>
      <vt:lpstr>PowerPoint Presentation</vt:lpstr>
      <vt:lpstr>PowerPoint Presentation</vt:lpstr>
      <vt:lpstr>.</vt:lpstr>
      <vt:lpstr>PowerPoint Presentation</vt:lpstr>
      <vt:lpstr>ROUTIMI STATIK</vt:lpstr>
      <vt:lpstr>PowerPoint Presentation</vt:lpstr>
      <vt:lpstr>TESTIMI</vt:lpstr>
      <vt:lpstr>PowerPoint Presentation</vt:lpstr>
      <vt:lpstr>s</vt:lpstr>
      <vt:lpstr>JU FALEMINDERIT!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Dizajnimi i rrjetës së Kompanisw Triple A me Packet Tracer</dc:title>
  <dc:creator>Alma</dc:creator>
  <cp:lastModifiedBy>TECHCOM</cp:lastModifiedBy>
  <cp:revision>12</cp:revision>
  <dcterms:modified xsi:type="dcterms:W3CDTF">2021-07-11T11:31:31Z</dcterms:modified>
</cp:coreProperties>
</file>